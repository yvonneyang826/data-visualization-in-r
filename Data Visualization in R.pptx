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32"/>
  </p:notesMasterIdLst>
  <p:sldIdLst>
    <p:sldId id="256" r:id="rId2"/>
    <p:sldId id="257" r:id="rId3"/>
    <p:sldId id="260" r:id="rId4"/>
    <p:sldId id="261" r:id="rId5"/>
    <p:sldId id="311" r:id="rId6"/>
    <p:sldId id="312" r:id="rId7"/>
    <p:sldId id="313" r:id="rId8"/>
    <p:sldId id="263" r:id="rId9"/>
    <p:sldId id="264" r:id="rId10"/>
    <p:sldId id="265" r:id="rId11"/>
    <p:sldId id="266" r:id="rId12"/>
    <p:sldId id="314" r:id="rId13"/>
    <p:sldId id="267" r:id="rId14"/>
    <p:sldId id="315" r:id="rId15"/>
    <p:sldId id="316" r:id="rId16"/>
    <p:sldId id="317" r:id="rId17"/>
    <p:sldId id="318" r:id="rId18"/>
    <p:sldId id="268" r:id="rId19"/>
    <p:sldId id="319" r:id="rId20"/>
    <p:sldId id="273" r:id="rId21"/>
    <p:sldId id="274" r:id="rId22"/>
    <p:sldId id="320" r:id="rId23"/>
    <p:sldId id="321" r:id="rId24"/>
    <p:sldId id="322" r:id="rId25"/>
    <p:sldId id="276" r:id="rId26"/>
    <p:sldId id="323" r:id="rId27"/>
    <p:sldId id="324" r:id="rId28"/>
    <p:sldId id="277" r:id="rId29"/>
    <p:sldId id="288" r:id="rId30"/>
    <p:sldId id="292" r:id="rId31"/>
  </p:sldIdLst>
  <p:sldSz cx="9144000" cy="5143500" type="screen16x9"/>
  <p:notesSz cx="6858000" cy="9144000"/>
  <p:embeddedFontLst>
    <p:embeddedFont>
      <p:font typeface="Akatab" panose="02000000000000000000" pitchFamily="2" charset="77"/>
      <p:regular r:id="rId33"/>
      <p:bold r:id="rId34"/>
    </p:embeddedFont>
    <p:embeddedFont>
      <p:font typeface="Noto Serif Ethiopic" panose="02020502060505020204" pitchFamily="18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32B455-1F90-484B-8315-7529A41CE57F}">
  <a:tblStyle styleId="{0832B455-1F90-484B-8315-7529A41CE5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719"/>
  </p:normalViewPr>
  <p:slideViewPr>
    <p:cSldViewPr snapToGrid="0">
      <p:cViewPr>
        <p:scale>
          <a:sx n="173" d="100"/>
          <a:sy n="173" d="100"/>
        </p:scale>
        <p:origin x="170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5a5b44800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5a5b44800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59dc3832df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59dc3832df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59dc3832df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59dc3832df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59dc3832df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59dc3832df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>
          <a:extLst>
            <a:ext uri="{FF2B5EF4-FFF2-40B4-BE49-F238E27FC236}">
              <a16:creationId xmlns:a16="http://schemas.microsoft.com/office/drawing/2014/main" id="{0A2E986F-0083-4710-EBB7-B6F6CA26D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59dc3832df_0_176:notes">
            <a:extLst>
              <a:ext uri="{FF2B5EF4-FFF2-40B4-BE49-F238E27FC236}">
                <a16:creationId xmlns:a16="http://schemas.microsoft.com/office/drawing/2014/main" id="{8DA8B704-163C-A7C9-33EF-D252F47A64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59dc3832df_0_176:notes">
            <a:extLst>
              <a:ext uri="{FF2B5EF4-FFF2-40B4-BE49-F238E27FC236}">
                <a16:creationId xmlns:a16="http://schemas.microsoft.com/office/drawing/2014/main" id="{84563B9B-5AA6-C92A-E883-D6AEC71421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7607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>
          <a:extLst>
            <a:ext uri="{FF2B5EF4-FFF2-40B4-BE49-F238E27FC236}">
              <a16:creationId xmlns:a16="http://schemas.microsoft.com/office/drawing/2014/main" id="{D69E7D47-460F-D870-DB82-63A816AAD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59dc3832df_0_176:notes">
            <a:extLst>
              <a:ext uri="{FF2B5EF4-FFF2-40B4-BE49-F238E27FC236}">
                <a16:creationId xmlns:a16="http://schemas.microsoft.com/office/drawing/2014/main" id="{8D427ECA-5ED6-4153-E02B-852C44D018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59dc3832df_0_176:notes">
            <a:extLst>
              <a:ext uri="{FF2B5EF4-FFF2-40B4-BE49-F238E27FC236}">
                <a16:creationId xmlns:a16="http://schemas.microsoft.com/office/drawing/2014/main" id="{83252449-1629-951E-4BEB-B9E694CF60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1958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5a78353f55_0_27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25a78353f55_0_27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5a78353f5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25a78353f5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5a78353f55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25a78353f55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5a78353f55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5a78353f55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>
          <a:extLst>
            <a:ext uri="{FF2B5EF4-FFF2-40B4-BE49-F238E27FC236}">
              <a16:creationId xmlns:a16="http://schemas.microsoft.com/office/drawing/2014/main" id="{647060DA-E5E4-2C14-366A-CE5280079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5a78353f55_0_34:notes">
            <a:extLst>
              <a:ext uri="{FF2B5EF4-FFF2-40B4-BE49-F238E27FC236}">
                <a16:creationId xmlns:a16="http://schemas.microsoft.com/office/drawing/2014/main" id="{5464A439-0CC8-AC67-CB51-7C3BF766F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5a78353f55_0_34:notes">
            <a:extLst>
              <a:ext uri="{FF2B5EF4-FFF2-40B4-BE49-F238E27FC236}">
                <a16:creationId xmlns:a16="http://schemas.microsoft.com/office/drawing/2014/main" id="{3C9D5952-708D-2260-B01D-42E6AECFD0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98294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5a78353f5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5a78353f5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>
          <a:extLst>
            <a:ext uri="{FF2B5EF4-FFF2-40B4-BE49-F238E27FC236}">
              <a16:creationId xmlns:a16="http://schemas.microsoft.com/office/drawing/2014/main" id="{4146F01D-7226-BD15-7D54-0E5C7D0BD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5a78353f55_0_34:notes">
            <a:extLst>
              <a:ext uri="{FF2B5EF4-FFF2-40B4-BE49-F238E27FC236}">
                <a16:creationId xmlns:a16="http://schemas.microsoft.com/office/drawing/2014/main" id="{926F0C47-2A02-32CA-604D-8C7DCE003A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5a78353f55_0_34:notes">
            <a:extLst>
              <a:ext uri="{FF2B5EF4-FFF2-40B4-BE49-F238E27FC236}">
                <a16:creationId xmlns:a16="http://schemas.microsoft.com/office/drawing/2014/main" id="{218B22EF-1BB5-E5A3-5461-44B898B170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2863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>
          <a:extLst>
            <a:ext uri="{FF2B5EF4-FFF2-40B4-BE49-F238E27FC236}">
              <a16:creationId xmlns:a16="http://schemas.microsoft.com/office/drawing/2014/main" id="{6CD04C38-A1F4-B85B-FC65-43C9A61E0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5a78353f55_0_34:notes">
            <a:extLst>
              <a:ext uri="{FF2B5EF4-FFF2-40B4-BE49-F238E27FC236}">
                <a16:creationId xmlns:a16="http://schemas.microsoft.com/office/drawing/2014/main" id="{384F41C4-8F20-71A5-56DE-31051B62C9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5a78353f55_0_34:notes">
            <a:extLst>
              <a:ext uri="{FF2B5EF4-FFF2-40B4-BE49-F238E27FC236}">
                <a16:creationId xmlns:a16="http://schemas.microsoft.com/office/drawing/2014/main" id="{7EAD202D-311A-7349-19AB-4AFA9A45DC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82689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>
          <a:extLst>
            <a:ext uri="{FF2B5EF4-FFF2-40B4-BE49-F238E27FC236}">
              <a16:creationId xmlns:a16="http://schemas.microsoft.com/office/drawing/2014/main" id="{EE349877-C1B0-0D83-7CFC-CF241DD71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5a78353f55_0_34:notes">
            <a:extLst>
              <a:ext uri="{FF2B5EF4-FFF2-40B4-BE49-F238E27FC236}">
                <a16:creationId xmlns:a16="http://schemas.microsoft.com/office/drawing/2014/main" id="{C8F96ACD-B244-7035-345F-9B1ABB6214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5a78353f55_0_34:notes">
            <a:extLst>
              <a:ext uri="{FF2B5EF4-FFF2-40B4-BE49-F238E27FC236}">
                <a16:creationId xmlns:a16="http://schemas.microsoft.com/office/drawing/2014/main" id="{EAB1A17C-F39A-C233-83C3-18CE61ED54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10818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>
          <a:extLst>
            <a:ext uri="{FF2B5EF4-FFF2-40B4-BE49-F238E27FC236}">
              <a16:creationId xmlns:a16="http://schemas.microsoft.com/office/drawing/2014/main" id="{7352C9E8-E4A7-867C-B641-DA59AF907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5a78353f55_0_79:notes">
            <a:extLst>
              <a:ext uri="{FF2B5EF4-FFF2-40B4-BE49-F238E27FC236}">
                <a16:creationId xmlns:a16="http://schemas.microsoft.com/office/drawing/2014/main" id="{CBC2610D-F360-C398-98E7-D078989A7B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5a78353f55_0_79:notes">
            <a:extLst>
              <a:ext uri="{FF2B5EF4-FFF2-40B4-BE49-F238E27FC236}">
                <a16:creationId xmlns:a16="http://schemas.microsoft.com/office/drawing/2014/main" id="{EDBB38DF-8930-114F-4FD9-55B61C100F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35786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5a78353f55_0_279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5a78353f55_0_279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>
          <a:extLst>
            <a:ext uri="{FF2B5EF4-FFF2-40B4-BE49-F238E27FC236}">
              <a16:creationId xmlns:a16="http://schemas.microsoft.com/office/drawing/2014/main" id="{AED0FBDB-7105-D7F5-0209-998A49540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5a78353f55_0_79:notes">
            <a:extLst>
              <a:ext uri="{FF2B5EF4-FFF2-40B4-BE49-F238E27FC236}">
                <a16:creationId xmlns:a16="http://schemas.microsoft.com/office/drawing/2014/main" id="{AD370F41-7E73-6C29-871C-ADCAE2190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5a78353f55_0_79:notes">
            <a:extLst>
              <a:ext uri="{FF2B5EF4-FFF2-40B4-BE49-F238E27FC236}">
                <a16:creationId xmlns:a16="http://schemas.microsoft.com/office/drawing/2014/main" id="{84E0F1B6-237F-3D7F-ADB9-2B9A1CB48F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25487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5a78353f55_0_278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25a78353f55_0_278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25a78353f55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25a78353f55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>
          <a:extLst>
            <a:ext uri="{FF2B5EF4-FFF2-40B4-BE49-F238E27FC236}">
              <a16:creationId xmlns:a16="http://schemas.microsoft.com/office/drawing/2014/main" id="{E0D6124B-5C10-11C1-FC0D-59F90582C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5a78353f55_0_79:notes">
            <a:extLst>
              <a:ext uri="{FF2B5EF4-FFF2-40B4-BE49-F238E27FC236}">
                <a16:creationId xmlns:a16="http://schemas.microsoft.com/office/drawing/2014/main" id="{B6F2CBB1-B5E4-1E44-6C8E-96B1DED3D4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5a78353f55_0_79:notes">
            <a:extLst>
              <a:ext uri="{FF2B5EF4-FFF2-40B4-BE49-F238E27FC236}">
                <a16:creationId xmlns:a16="http://schemas.microsoft.com/office/drawing/2014/main" id="{E3E08FA6-FDA2-2920-AFD6-24D50BF1B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41615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989127F5-AF36-A977-A4A6-DAA139AE2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5a78353f55_0_27979:notes">
            <a:extLst>
              <a:ext uri="{FF2B5EF4-FFF2-40B4-BE49-F238E27FC236}">
                <a16:creationId xmlns:a16="http://schemas.microsoft.com/office/drawing/2014/main" id="{F09FF45E-3A8D-5FD9-0B33-258EC16087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5a78353f55_0_27979:notes">
            <a:extLst>
              <a:ext uri="{FF2B5EF4-FFF2-40B4-BE49-F238E27FC236}">
                <a16:creationId xmlns:a16="http://schemas.microsoft.com/office/drawing/2014/main" id="{95E007E6-8AD3-88A8-DE9D-FF34D3709E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4972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660BB723-127D-29AD-6676-A14FE4135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5a78353f55_0_134:notes">
            <a:extLst>
              <a:ext uri="{FF2B5EF4-FFF2-40B4-BE49-F238E27FC236}">
                <a16:creationId xmlns:a16="http://schemas.microsoft.com/office/drawing/2014/main" id="{6C2FB100-7018-ADF5-557D-D11ED7B01D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5a78353f55_0_134:notes">
            <a:extLst>
              <a:ext uri="{FF2B5EF4-FFF2-40B4-BE49-F238E27FC236}">
                <a16:creationId xmlns:a16="http://schemas.microsoft.com/office/drawing/2014/main" id="{D3EDE51B-46F5-1B96-0EE7-A91EBAB4BB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48351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5a78353f55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5a78353f55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8A966904-3083-4F92-99F3-79DB21EB6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5a78353f55_0_134:notes">
            <a:extLst>
              <a:ext uri="{FF2B5EF4-FFF2-40B4-BE49-F238E27FC236}">
                <a16:creationId xmlns:a16="http://schemas.microsoft.com/office/drawing/2014/main" id="{9A4F0DEB-0080-C6FA-2BF2-3F0A9D932B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5a78353f55_0_134:notes">
            <a:extLst>
              <a:ext uri="{FF2B5EF4-FFF2-40B4-BE49-F238E27FC236}">
                <a16:creationId xmlns:a16="http://schemas.microsoft.com/office/drawing/2014/main" id="{ED08D53A-CCFA-5D2D-77E9-DA66BCF0E4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96497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725DAD27-A6D4-A7F6-6B12-19526E103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5a78353f55_0_134:notes">
            <a:extLst>
              <a:ext uri="{FF2B5EF4-FFF2-40B4-BE49-F238E27FC236}">
                <a16:creationId xmlns:a16="http://schemas.microsoft.com/office/drawing/2014/main" id="{86C29238-C02B-9263-2319-DE2DF2E6A4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5a78353f55_0_134:notes">
            <a:extLst>
              <a:ext uri="{FF2B5EF4-FFF2-40B4-BE49-F238E27FC236}">
                <a16:creationId xmlns:a16="http://schemas.microsoft.com/office/drawing/2014/main" id="{DE47923B-C9A2-4E5F-C019-3B2AF96A72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26268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25a78353f55_0_279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25a78353f55_0_279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5a78353f55_0_279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25a78353f55_0_279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25a78353f5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25a78353f5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51700" y="1050088"/>
            <a:ext cx="4890300" cy="19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251700" y="3040063"/>
            <a:ext cx="48903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393550" y="2502950"/>
            <a:ext cx="4360200" cy="12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1393550" y="1713902"/>
            <a:ext cx="1200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1393550" y="3743512"/>
            <a:ext cx="4360200" cy="4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21" name="Google Shape;21;p4"/>
          <p:cNvGrpSpPr/>
          <p:nvPr/>
        </p:nvGrpSpPr>
        <p:grpSpPr>
          <a:xfrm flipH="1">
            <a:off x="435875" y="1292300"/>
            <a:ext cx="90900" cy="3705900"/>
            <a:chOff x="7952125" y="1292300"/>
            <a:chExt cx="90900" cy="3705900"/>
          </a:xfrm>
        </p:grpSpPr>
        <p:sp>
          <p:nvSpPr>
            <p:cNvPr id="22" name="Google Shape;22;p4"/>
            <p:cNvSpPr/>
            <p:nvPr/>
          </p:nvSpPr>
          <p:spPr>
            <a:xfrm rot="5400000">
              <a:off x="7744975" y="149945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" name="Google Shape;23;p4"/>
            <p:cNvCxnSpPr/>
            <p:nvPr/>
          </p:nvCxnSpPr>
          <p:spPr>
            <a:xfrm>
              <a:off x="8043025" y="1292300"/>
              <a:ext cx="0" cy="3705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" name="Google Shape;24;p4"/>
          <p:cNvGrpSpPr/>
          <p:nvPr/>
        </p:nvGrpSpPr>
        <p:grpSpPr>
          <a:xfrm rot="10800000">
            <a:off x="8617225" y="97275"/>
            <a:ext cx="90900" cy="3705900"/>
            <a:chOff x="7952125" y="1292300"/>
            <a:chExt cx="90900" cy="3705900"/>
          </a:xfrm>
        </p:grpSpPr>
        <p:sp>
          <p:nvSpPr>
            <p:cNvPr id="25" name="Google Shape;25;p4"/>
            <p:cNvSpPr/>
            <p:nvPr/>
          </p:nvSpPr>
          <p:spPr>
            <a:xfrm rot="5400000">
              <a:off x="7744975" y="149945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" name="Google Shape;26;p4"/>
            <p:cNvCxnSpPr/>
            <p:nvPr/>
          </p:nvCxnSpPr>
          <p:spPr>
            <a:xfrm>
              <a:off x="8043025" y="1292300"/>
              <a:ext cx="0" cy="3705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1938000" y="1571850"/>
            <a:ext cx="5268000" cy="12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2"/>
          </p:nvPr>
        </p:nvSpPr>
        <p:spPr>
          <a:xfrm>
            <a:off x="1938000" y="3033474"/>
            <a:ext cx="5268000" cy="12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2" name="Google Shape;32;p5"/>
          <p:cNvGrpSpPr/>
          <p:nvPr/>
        </p:nvGrpSpPr>
        <p:grpSpPr>
          <a:xfrm>
            <a:off x="165700" y="1292300"/>
            <a:ext cx="8349200" cy="3705900"/>
            <a:chOff x="165700" y="1292300"/>
            <a:chExt cx="8349200" cy="3705900"/>
          </a:xfrm>
        </p:grpSpPr>
        <p:grpSp>
          <p:nvGrpSpPr>
            <p:cNvPr id="33" name="Google Shape;33;p5"/>
            <p:cNvGrpSpPr/>
            <p:nvPr/>
          </p:nvGrpSpPr>
          <p:grpSpPr>
            <a:xfrm rot="10800000">
              <a:off x="165700" y="4608500"/>
              <a:ext cx="7941000" cy="90900"/>
              <a:chOff x="1239825" y="571500"/>
              <a:chExt cx="7941000" cy="90900"/>
            </a:xfrm>
          </p:grpSpPr>
          <p:cxnSp>
            <p:nvCxnSpPr>
              <p:cNvPr id="34" name="Google Shape;34;p5"/>
              <p:cNvCxnSpPr/>
              <p:nvPr/>
            </p:nvCxnSpPr>
            <p:spPr>
              <a:xfrm>
                <a:off x="1239825" y="571500"/>
                <a:ext cx="794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" name="Google Shape;35;p5"/>
              <p:cNvSpPr/>
              <p:nvPr/>
            </p:nvSpPr>
            <p:spPr>
              <a:xfrm>
                <a:off x="1239825" y="57150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5"/>
            <p:cNvGrpSpPr/>
            <p:nvPr/>
          </p:nvGrpSpPr>
          <p:grpSpPr>
            <a:xfrm flipH="1">
              <a:off x="8424000" y="1292300"/>
              <a:ext cx="90900" cy="3705900"/>
              <a:chOff x="7952125" y="1292300"/>
              <a:chExt cx="90900" cy="3705900"/>
            </a:xfrm>
          </p:grpSpPr>
          <p:sp>
            <p:nvSpPr>
              <p:cNvPr id="37" name="Google Shape;37;p5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8" name="Google Shape;38;p5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19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53" name="Google Shape;53;p7"/>
          <p:cNvGrpSpPr/>
          <p:nvPr/>
        </p:nvGrpSpPr>
        <p:grpSpPr>
          <a:xfrm rot="10800000" flipH="1">
            <a:off x="2502023" y="4741850"/>
            <a:ext cx="6506400" cy="90900"/>
            <a:chOff x="1239825" y="571500"/>
            <a:chExt cx="6506400" cy="90900"/>
          </a:xfrm>
        </p:grpSpPr>
        <p:cxnSp>
          <p:nvCxnSpPr>
            <p:cNvPr id="54" name="Google Shape;54;p7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" name="Google Shape;55;p7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title" hasCustomPrompt="1"/>
          </p:nvPr>
        </p:nvSpPr>
        <p:spPr>
          <a:xfrm>
            <a:off x="1740000" y="1788150"/>
            <a:ext cx="56640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5" name="Google Shape;75;p11"/>
          <p:cNvSpPr txBox="1">
            <a:spLocks noGrp="1"/>
          </p:cNvSpPr>
          <p:nvPr>
            <p:ph type="subTitle" idx="1"/>
          </p:nvPr>
        </p:nvSpPr>
        <p:spPr>
          <a:xfrm>
            <a:off x="1740000" y="2957550"/>
            <a:ext cx="5664000" cy="3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76" name="Google Shape;76;p11"/>
          <p:cNvGrpSpPr/>
          <p:nvPr/>
        </p:nvGrpSpPr>
        <p:grpSpPr>
          <a:xfrm rot="10800000">
            <a:off x="165548" y="4741850"/>
            <a:ext cx="6506400" cy="90900"/>
            <a:chOff x="1239825" y="571500"/>
            <a:chExt cx="6506400" cy="90900"/>
          </a:xfrm>
        </p:grpSpPr>
        <p:cxnSp>
          <p:nvCxnSpPr>
            <p:cNvPr id="77" name="Google Shape;77;p11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" name="Google Shape;78;p11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" name="Google Shape;79;p11"/>
          <p:cNvGrpSpPr/>
          <p:nvPr/>
        </p:nvGrpSpPr>
        <p:grpSpPr>
          <a:xfrm rot="10800000" flipH="1">
            <a:off x="2467871" y="298450"/>
            <a:ext cx="6506400" cy="90900"/>
            <a:chOff x="1239825" y="571500"/>
            <a:chExt cx="6506400" cy="90900"/>
          </a:xfrm>
        </p:grpSpPr>
        <p:cxnSp>
          <p:nvCxnSpPr>
            <p:cNvPr id="80" name="Google Shape;80;p11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1" name="Google Shape;81;p11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/>
          </p:nvPr>
        </p:nvSpPr>
        <p:spPr>
          <a:xfrm>
            <a:off x="1717938" y="3040950"/>
            <a:ext cx="57081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1"/>
          </p:nvPr>
        </p:nvSpPr>
        <p:spPr>
          <a:xfrm>
            <a:off x="1717960" y="1570650"/>
            <a:ext cx="5708100" cy="147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grpSp>
        <p:nvGrpSpPr>
          <p:cNvPr id="108" name="Google Shape;108;p14"/>
          <p:cNvGrpSpPr/>
          <p:nvPr/>
        </p:nvGrpSpPr>
        <p:grpSpPr>
          <a:xfrm>
            <a:off x="435875" y="97275"/>
            <a:ext cx="8272250" cy="4900925"/>
            <a:chOff x="435875" y="97275"/>
            <a:chExt cx="8272250" cy="4900925"/>
          </a:xfrm>
        </p:grpSpPr>
        <p:grpSp>
          <p:nvGrpSpPr>
            <p:cNvPr id="109" name="Google Shape;109;p14"/>
            <p:cNvGrpSpPr/>
            <p:nvPr/>
          </p:nvGrpSpPr>
          <p:grpSpPr>
            <a:xfrm rot="10800000">
              <a:off x="435875" y="97275"/>
              <a:ext cx="90900" cy="3705900"/>
              <a:chOff x="7952125" y="1292300"/>
              <a:chExt cx="90900" cy="3705900"/>
            </a:xfrm>
          </p:grpSpPr>
          <p:sp>
            <p:nvSpPr>
              <p:cNvPr id="110" name="Google Shape;110;p14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11" name="Google Shape;111;p14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12" name="Google Shape;112;p14"/>
            <p:cNvGrpSpPr/>
            <p:nvPr/>
          </p:nvGrpSpPr>
          <p:grpSpPr>
            <a:xfrm flipH="1">
              <a:off x="8617225" y="1292300"/>
              <a:ext cx="90900" cy="3705900"/>
              <a:chOff x="7952125" y="1292300"/>
              <a:chExt cx="90900" cy="3705900"/>
            </a:xfrm>
          </p:grpSpPr>
          <p:sp>
            <p:nvSpPr>
              <p:cNvPr id="113" name="Google Shape;113;p14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14" name="Google Shape;114;p14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title"/>
          </p:nvPr>
        </p:nvSpPr>
        <p:spPr>
          <a:xfrm>
            <a:off x="2352125" y="2350750"/>
            <a:ext cx="3555300" cy="13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 idx="2" hasCustomPrompt="1"/>
          </p:nvPr>
        </p:nvSpPr>
        <p:spPr>
          <a:xfrm>
            <a:off x="1152125" y="2350752"/>
            <a:ext cx="1200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9" name="Google Shape;119;p15"/>
          <p:cNvSpPr txBox="1">
            <a:spLocks noGrp="1"/>
          </p:cNvSpPr>
          <p:nvPr>
            <p:ph type="subTitle" idx="1"/>
          </p:nvPr>
        </p:nvSpPr>
        <p:spPr>
          <a:xfrm>
            <a:off x="2352125" y="3718300"/>
            <a:ext cx="3555300" cy="4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title"/>
          </p:nvPr>
        </p:nvSpPr>
        <p:spPr>
          <a:xfrm>
            <a:off x="3854900" y="2450375"/>
            <a:ext cx="3733800" cy="14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title" idx="2" hasCustomPrompt="1"/>
          </p:nvPr>
        </p:nvSpPr>
        <p:spPr>
          <a:xfrm>
            <a:off x="5121800" y="1643052"/>
            <a:ext cx="1200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4" name="Google Shape;124;p16"/>
          <p:cNvSpPr txBox="1">
            <a:spLocks noGrp="1"/>
          </p:cNvSpPr>
          <p:nvPr>
            <p:ph type="subTitle" idx="1"/>
          </p:nvPr>
        </p:nvSpPr>
        <p:spPr>
          <a:xfrm>
            <a:off x="3854900" y="3855551"/>
            <a:ext cx="3733800" cy="4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28" name="Google Shape;128;p17"/>
          <p:cNvGrpSpPr/>
          <p:nvPr/>
        </p:nvGrpSpPr>
        <p:grpSpPr>
          <a:xfrm rot="10800000">
            <a:off x="165700" y="4608500"/>
            <a:ext cx="7941000" cy="90900"/>
            <a:chOff x="1239825" y="571500"/>
            <a:chExt cx="7941000" cy="90900"/>
          </a:xfrm>
        </p:grpSpPr>
        <p:cxnSp>
          <p:nvCxnSpPr>
            <p:cNvPr id="129" name="Google Shape;129;p17"/>
            <p:cNvCxnSpPr/>
            <p:nvPr/>
          </p:nvCxnSpPr>
          <p:spPr>
            <a:xfrm>
              <a:off x="1239825" y="571500"/>
              <a:ext cx="7941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0" name="Google Shape;130;p17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34" name="Google Shape;134;p18"/>
          <p:cNvGrpSpPr/>
          <p:nvPr/>
        </p:nvGrpSpPr>
        <p:grpSpPr>
          <a:xfrm flipH="1">
            <a:off x="8617225" y="1292300"/>
            <a:ext cx="90900" cy="3705900"/>
            <a:chOff x="7952125" y="1292300"/>
            <a:chExt cx="90900" cy="3705900"/>
          </a:xfrm>
        </p:grpSpPr>
        <p:sp>
          <p:nvSpPr>
            <p:cNvPr id="135" name="Google Shape;135;p18"/>
            <p:cNvSpPr/>
            <p:nvPr/>
          </p:nvSpPr>
          <p:spPr>
            <a:xfrm rot="5400000">
              <a:off x="7744975" y="149945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6" name="Google Shape;136;p18"/>
            <p:cNvCxnSpPr/>
            <p:nvPr/>
          </p:nvCxnSpPr>
          <p:spPr>
            <a:xfrm>
              <a:off x="8043025" y="1292300"/>
              <a:ext cx="0" cy="3705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subTitle" idx="1"/>
          </p:nvPr>
        </p:nvSpPr>
        <p:spPr>
          <a:xfrm>
            <a:off x="948188" y="2303125"/>
            <a:ext cx="32112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subTitle" idx="2"/>
          </p:nvPr>
        </p:nvSpPr>
        <p:spPr>
          <a:xfrm>
            <a:off x="4984609" y="2303125"/>
            <a:ext cx="3211200" cy="4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ubTitle" idx="3"/>
          </p:nvPr>
        </p:nvSpPr>
        <p:spPr>
          <a:xfrm>
            <a:off x="948188" y="2779225"/>
            <a:ext cx="3211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5"/>
          <p:cNvSpPr txBox="1">
            <a:spLocks noGrp="1"/>
          </p:cNvSpPr>
          <p:nvPr>
            <p:ph type="subTitle" idx="4"/>
          </p:nvPr>
        </p:nvSpPr>
        <p:spPr>
          <a:xfrm>
            <a:off x="4984609" y="2779225"/>
            <a:ext cx="3211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03" name="Google Shape;203;p25"/>
          <p:cNvGrpSpPr/>
          <p:nvPr/>
        </p:nvGrpSpPr>
        <p:grpSpPr>
          <a:xfrm rot="10800000">
            <a:off x="165548" y="4741850"/>
            <a:ext cx="6506400" cy="90900"/>
            <a:chOff x="1239825" y="571500"/>
            <a:chExt cx="6506400" cy="90900"/>
          </a:xfrm>
        </p:grpSpPr>
        <p:cxnSp>
          <p:nvCxnSpPr>
            <p:cNvPr id="204" name="Google Shape;204;p25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5" name="Google Shape;205;p25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" name="Google Shape;206;p25"/>
          <p:cNvGrpSpPr/>
          <p:nvPr/>
        </p:nvGrpSpPr>
        <p:grpSpPr>
          <a:xfrm rot="10800000" flipH="1">
            <a:off x="456371" y="298450"/>
            <a:ext cx="8307000" cy="90900"/>
            <a:chOff x="1239825" y="571500"/>
            <a:chExt cx="8307000" cy="90900"/>
          </a:xfrm>
        </p:grpSpPr>
        <p:cxnSp>
          <p:nvCxnSpPr>
            <p:cNvPr id="207" name="Google Shape;207;p25"/>
            <p:cNvCxnSpPr/>
            <p:nvPr/>
          </p:nvCxnSpPr>
          <p:spPr>
            <a:xfrm>
              <a:off x="1239825" y="571500"/>
              <a:ext cx="830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8" name="Google Shape;208;p25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7"/>
          <p:cNvSpPr txBox="1">
            <a:spLocks noGrp="1"/>
          </p:cNvSpPr>
          <p:nvPr>
            <p:ph type="subTitle" idx="1"/>
          </p:nvPr>
        </p:nvSpPr>
        <p:spPr>
          <a:xfrm>
            <a:off x="720000" y="2515000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225" name="Google Shape;225;p27"/>
          <p:cNvSpPr txBox="1">
            <a:spLocks noGrp="1"/>
          </p:cNvSpPr>
          <p:nvPr>
            <p:ph type="subTitle" idx="2"/>
          </p:nvPr>
        </p:nvSpPr>
        <p:spPr>
          <a:xfrm>
            <a:off x="720000" y="2999805"/>
            <a:ext cx="23364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7"/>
          <p:cNvSpPr txBox="1">
            <a:spLocks noGrp="1"/>
          </p:cNvSpPr>
          <p:nvPr>
            <p:ph type="subTitle" idx="3"/>
          </p:nvPr>
        </p:nvSpPr>
        <p:spPr>
          <a:xfrm>
            <a:off x="3403800" y="2320305"/>
            <a:ext cx="23364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7"/>
          <p:cNvSpPr txBox="1">
            <a:spLocks noGrp="1"/>
          </p:cNvSpPr>
          <p:nvPr>
            <p:ph type="subTitle" idx="4"/>
          </p:nvPr>
        </p:nvSpPr>
        <p:spPr>
          <a:xfrm>
            <a:off x="6087600" y="2999805"/>
            <a:ext cx="23364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7"/>
          <p:cNvSpPr txBox="1">
            <a:spLocks noGrp="1"/>
          </p:cNvSpPr>
          <p:nvPr>
            <p:ph type="subTitle" idx="5"/>
          </p:nvPr>
        </p:nvSpPr>
        <p:spPr>
          <a:xfrm>
            <a:off x="3403800" y="1835500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230" name="Google Shape;230;p27"/>
          <p:cNvSpPr txBox="1">
            <a:spLocks noGrp="1"/>
          </p:cNvSpPr>
          <p:nvPr>
            <p:ph type="subTitle" idx="6"/>
          </p:nvPr>
        </p:nvSpPr>
        <p:spPr>
          <a:xfrm>
            <a:off x="6087600" y="2515000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grpSp>
        <p:nvGrpSpPr>
          <p:cNvPr id="231" name="Google Shape;231;p27"/>
          <p:cNvGrpSpPr/>
          <p:nvPr/>
        </p:nvGrpSpPr>
        <p:grpSpPr>
          <a:xfrm>
            <a:off x="435875" y="97275"/>
            <a:ext cx="8272250" cy="4900925"/>
            <a:chOff x="435875" y="97275"/>
            <a:chExt cx="8272250" cy="4900925"/>
          </a:xfrm>
        </p:grpSpPr>
        <p:grpSp>
          <p:nvGrpSpPr>
            <p:cNvPr id="232" name="Google Shape;232;p27"/>
            <p:cNvGrpSpPr/>
            <p:nvPr/>
          </p:nvGrpSpPr>
          <p:grpSpPr>
            <a:xfrm flipH="1">
              <a:off x="435875" y="1292300"/>
              <a:ext cx="90900" cy="3705900"/>
              <a:chOff x="7952125" y="1292300"/>
              <a:chExt cx="90900" cy="3705900"/>
            </a:xfrm>
          </p:grpSpPr>
          <p:sp>
            <p:nvSpPr>
              <p:cNvPr id="233" name="Google Shape;233;p27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34" name="Google Shape;234;p27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35" name="Google Shape;235;p27"/>
            <p:cNvGrpSpPr/>
            <p:nvPr/>
          </p:nvGrpSpPr>
          <p:grpSpPr>
            <a:xfrm rot="10800000">
              <a:off x="8617225" y="97275"/>
              <a:ext cx="90900" cy="3705900"/>
              <a:chOff x="7952125" y="1292300"/>
              <a:chExt cx="90900" cy="3705900"/>
            </a:xfrm>
          </p:grpSpPr>
          <p:sp>
            <p:nvSpPr>
              <p:cNvPr id="236" name="Google Shape;236;p27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37" name="Google Shape;237;p27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8"/>
          <p:cNvSpPr txBox="1">
            <a:spLocks noGrp="1"/>
          </p:cNvSpPr>
          <p:nvPr>
            <p:ph type="subTitle" idx="1"/>
          </p:nvPr>
        </p:nvSpPr>
        <p:spPr>
          <a:xfrm>
            <a:off x="3037207" y="1417350"/>
            <a:ext cx="30696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242" name="Google Shape;242;p28"/>
          <p:cNvSpPr txBox="1">
            <a:spLocks noGrp="1"/>
          </p:cNvSpPr>
          <p:nvPr>
            <p:ph type="subTitle" idx="2"/>
          </p:nvPr>
        </p:nvSpPr>
        <p:spPr>
          <a:xfrm>
            <a:off x="3037207" y="1902150"/>
            <a:ext cx="3069600" cy="7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28"/>
          <p:cNvSpPr txBox="1">
            <a:spLocks noGrp="1"/>
          </p:cNvSpPr>
          <p:nvPr>
            <p:ph type="subTitle" idx="3"/>
          </p:nvPr>
        </p:nvSpPr>
        <p:spPr>
          <a:xfrm>
            <a:off x="1176669" y="3296076"/>
            <a:ext cx="3069600" cy="7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28"/>
          <p:cNvSpPr txBox="1">
            <a:spLocks noGrp="1"/>
          </p:cNvSpPr>
          <p:nvPr>
            <p:ph type="subTitle" idx="4"/>
          </p:nvPr>
        </p:nvSpPr>
        <p:spPr>
          <a:xfrm>
            <a:off x="4897741" y="3296075"/>
            <a:ext cx="3069600" cy="7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8"/>
          <p:cNvSpPr txBox="1">
            <a:spLocks noGrp="1"/>
          </p:cNvSpPr>
          <p:nvPr>
            <p:ph type="subTitle" idx="5"/>
          </p:nvPr>
        </p:nvSpPr>
        <p:spPr>
          <a:xfrm>
            <a:off x="1176659" y="2811275"/>
            <a:ext cx="30696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246" name="Google Shape;246;p28"/>
          <p:cNvSpPr txBox="1">
            <a:spLocks noGrp="1"/>
          </p:cNvSpPr>
          <p:nvPr>
            <p:ph type="subTitle" idx="6"/>
          </p:nvPr>
        </p:nvSpPr>
        <p:spPr>
          <a:xfrm>
            <a:off x="4897731" y="2811275"/>
            <a:ext cx="30696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grpSp>
        <p:nvGrpSpPr>
          <p:cNvPr id="247" name="Google Shape;247;p28"/>
          <p:cNvGrpSpPr/>
          <p:nvPr/>
        </p:nvGrpSpPr>
        <p:grpSpPr>
          <a:xfrm>
            <a:off x="165700" y="1308400"/>
            <a:ext cx="8349200" cy="3705900"/>
            <a:chOff x="165700" y="1308400"/>
            <a:chExt cx="8349200" cy="3705900"/>
          </a:xfrm>
        </p:grpSpPr>
        <p:grpSp>
          <p:nvGrpSpPr>
            <p:cNvPr id="248" name="Google Shape;248;p28"/>
            <p:cNvGrpSpPr/>
            <p:nvPr/>
          </p:nvGrpSpPr>
          <p:grpSpPr>
            <a:xfrm rot="10800000">
              <a:off x="165700" y="4608500"/>
              <a:ext cx="7941000" cy="90900"/>
              <a:chOff x="1239825" y="571500"/>
              <a:chExt cx="7941000" cy="90900"/>
            </a:xfrm>
          </p:grpSpPr>
          <p:cxnSp>
            <p:nvCxnSpPr>
              <p:cNvPr id="249" name="Google Shape;249;p28"/>
              <p:cNvCxnSpPr/>
              <p:nvPr/>
            </p:nvCxnSpPr>
            <p:spPr>
              <a:xfrm>
                <a:off x="1239825" y="571500"/>
                <a:ext cx="794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0" name="Google Shape;250;p28"/>
              <p:cNvSpPr/>
              <p:nvPr/>
            </p:nvSpPr>
            <p:spPr>
              <a:xfrm>
                <a:off x="1239825" y="57150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" name="Google Shape;251;p28"/>
            <p:cNvGrpSpPr/>
            <p:nvPr/>
          </p:nvGrpSpPr>
          <p:grpSpPr>
            <a:xfrm flipH="1">
              <a:off x="8424000" y="1308400"/>
              <a:ext cx="90900" cy="3705900"/>
              <a:chOff x="7952125" y="1292300"/>
              <a:chExt cx="90900" cy="3705900"/>
            </a:xfrm>
          </p:grpSpPr>
          <p:sp>
            <p:nvSpPr>
              <p:cNvPr id="252" name="Google Shape;252;p28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53" name="Google Shape;253;p28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9"/>
          <p:cNvSpPr txBox="1">
            <a:spLocks noGrp="1"/>
          </p:cNvSpPr>
          <p:nvPr>
            <p:ph type="subTitle" idx="1"/>
          </p:nvPr>
        </p:nvSpPr>
        <p:spPr>
          <a:xfrm>
            <a:off x="2347929" y="1532925"/>
            <a:ext cx="1888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257" name="Google Shape;257;p29"/>
          <p:cNvSpPr txBox="1">
            <a:spLocks noGrp="1"/>
          </p:cNvSpPr>
          <p:nvPr>
            <p:ph type="subTitle" idx="2"/>
          </p:nvPr>
        </p:nvSpPr>
        <p:spPr>
          <a:xfrm>
            <a:off x="2347912" y="2017725"/>
            <a:ext cx="1888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29"/>
          <p:cNvSpPr txBox="1">
            <a:spLocks noGrp="1"/>
          </p:cNvSpPr>
          <p:nvPr>
            <p:ph type="subTitle" idx="3"/>
          </p:nvPr>
        </p:nvSpPr>
        <p:spPr>
          <a:xfrm>
            <a:off x="4907276" y="2017725"/>
            <a:ext cx="1888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29"/>
          <p:cNvSpPr txBox="1">
            <a:spLocks noGrp="1"/>
          </p:cNvSpPr>
          <p:nvPr>
            <p:ph type="subTitle" idx="4"/>
          </p:nvPr>
        </p:nvSpPr>
        <p:spPr>
          <a:xfrm>
            <a:off x="2347921" y="3407650"/>
            <a:ext cx="1888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9"/>
          <p:cNvSpPr txBox="1">
            <a:spLocks noGrp="1"/>
          </p:cNvSpPr>
          <p:nvPr>
            <p:ph type="subTitle" idx="5"/>
          </p:nvPr>
        </p:nvSpPr>
        <p:spPr>
          <a:xfrm>
            <a:off x="4907284" y="3407650"/>
            <a:ext cx="1888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9"/>
          <p:cNvSpPr txBox="1">
            <a:spLocks noGrp="1"/>
          </p:cNvSpPr>
          <p:nvPr>
            <p:ph type="subTitle" idx="6"/>
          </p:nvPr>
        </p:nvSpPr>
        <p:spPr>
          <a:xfrm>
            <a:off x="2347929" y="2922850"/>
            <a:ext cx="1888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263" name="Google Shape;263;p29"/>
          <p:cNvSpPr txBox="1">
            <a:spLocks noGrp="1"/>
          </p:cNvSpPr>
          <p:nvPr>
            <p:ph type="subTitle" idx="7"/>
          </p:nvPr>
        </p:nvSpPr>
        <p:spPr>
          <a:xfrm>
            <a:off x="4907291" y="1532925"/>
            <a:ext cx="1888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264" name="Google Shape;264;p29"/>
          <p:cNvSpPr txBox="1">
            <a:spLocks noGrp="1"/>
          </p:cNvSpPr>
          <p:nvPr>
            <p:ph type="subTitle" idx="8"/>
          </p:nvPr>
        </p:nvSpPr>
        <p:spPr>
          <a:xfrm>
            <a:off x="4907291" y="2922850"/>
            <a:ext cx="1888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grpSp>
        <p:nvGrpSpPr>
          <p:cNvPr id="265" name="Google Shape;265;p29"/>
          <p:cNvGrpSpPr/>
          <p:nvPr/>
        </p:nvGrpSpPr>
        <p:grpSpPr>
          <a:xfrm>
            <a:off x="629100" y="1292300"/>
            <a:ext cx="8343450" cy="3705900"/>
            <a:chOff x="629100" y="1292300"/>
            <a:chExt cx="8343450" cy="3705900"/>
          </a:xfrm>
        </p:grpSpPr>
        <p:grpSp>
          <p:nvGrpSpPr>
            <p:cNvPr id="266" name="Google Shape;266;p29"/>
            <p:cNvGrpSpPr/>
            <p:nvPr/>
          </p:nvGrpSpPr>
          <p:grpSpPr>
            <a:xfrm rot="10800000" flipH="1">
              <a:off x="1031550" y="4608500"/>
              <a:ext cx="7941000" cy="90900"/>
              <a:chOff x="1239825" y="571500"/>
              <a:chExt cx="7941000" cy="90900"/>
            </a:xfrm>
          </p:grpSpPr>
          <p:cxnSp>
            <p:nvCxnSpPr>
              <p:cNvPr id="267" name="Google Shape;267;p29"/>
              <p:cNvCxnSpPr/>
              <p:nvPr/>
            </p:nvCxnSpPr>
            <p:spPr>
              <a:xfrm>
                <a:off x="1239825" y="571500"/>
                <a:ext cx="7941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68" name="Google Shape;268;p29"/>
              <p:cNvSpPr/>
              <p:nvPr/>
            </p:nvSpPr>
            <p:spPr>
              <a:xfrm>
                <a:off x="1239825" y="57150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9" name="Google Shape;269;p29"/>
            <p:cNvGrpSpPr/>
            <p:nvPr/>
          </p:nvGrpSpPr>
          <p:grpSpPr>
            <a:xfrm flipH="1">
              <a:off x="629100" y="1292300"/>
              <a:ext cx="90900" cy="3705900"/>
              <a:chOff x="7952125" y="1292300"/>
              <a:chExt cx="90900" cy="3705900"/>
            </a:xfrm>
          </p:grpSpPr>
          <p:sp>
            <p:nvSpPr>
              <p:cNvPr id="270" name="Google Shape;270;p29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71" name="Google Shape;271;p29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31"/>
          <p:cNvSpPr txBox="1">
            <a:spLocks noGrp="1"/>
          </p:cNvSpPr>
          <p:nvPr>
            <p:ph type="subTitle" idx="1"/>
          </p:nvPr>
        </p:nvSpPr>
        <p:spPr>
          <a:xfrm>
            <a:off x="1438125" y="2291499"/>
            <a:ext cx="1900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31"/>
          <p:cNvSpPr txBox="1">
            <a:spLocks noGrp="1"/>
          </p:cNvSpPr>
          <p:nvPr>
            <p:ph type="subTitle" idx="2"/>
          </p:nvPr>
        </p:nvSpPr>
        <p:spPr>
          <a:xfrm>
            <a:off x="3621606" y="2291499"/>
            <a:ext cx="1900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31"/>
          <p:cNvSpPr txBox="1">
            <a:spLocks noGrp="1"/>
          </p:cNvSpPr>
          <p:nvPr>
            <p:ph type="subTitle" idx="3"/>
          </p:nvPr>
        </p:nvSpPr>
        <p:spPr>
          <a:xfrm>
            <a:off x="5805086" y="2291499"/>
            <a:ext cx="1900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31"/>
          <p:cNvSpPr txBox="1">
            <a:spLocks noGrp="1"/>
          </p:cNvSpPr>
          <p:nvPr>
            <p:ph type="subTitle" idx="4"/>
          </p:nvPr>
        </p:nvSpPr>
        <p:spPr>
          <a:xfrm>
            <a:off x="1438125" y="3560575"/>
            <a:ext cx="1900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1"/>
          <p:cNvSpPr txBox="1">
            <a:spLocks noGrp="1"/>
          </p:cNvSpPr>
          <p:nvPr>
            <p:ph type="subTitle" idx="5"/>
          </p:nvPr>
        </p:nvSpPr>
        <p:spPr>
          <a:xfrm>
            <a:off x="3621606" y="3560575"/>
            <a:ext cx="1900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1"/>
          <p:cNvSpPr txBox="1">
            <a:spLocks noGrp="1"/>
          </p:cNvSpPr>
          <p:nvPr>
            <p:ph type="subTitle" idx="6"/>
          </p:nvPr>
        </p:nvSpPr>
        <p:spPr>
          <a:xfrm>
            <a:off x="5805086" y="3560575"/>
            <a:ext cx="1900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31"/>
          <p:cNvSpPr txBox="1">
            <a:spLocks noGrp="1"/>
          </p:cNvSpPr>
          <p:nvPr>
            <p:ph type="subTitle" idx="7"/>
          </p:nvPr>
        </p:nvSpPr>
        <p:spPr>
          <a:xfrm>
            <a:off x="1434138" y="1806700"/>
            <a:ext cx="1900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298" name="Google Shape;298;p31"/>
          <p:cNvSpPr txBox="1">
            <a:spLocks noGrp="1"/>
          </p:cNvSpPr>
          <p:nvPr>
            <p:ph type="subTitle" idx="8"/>
          </p:nvPr>
        </p:nvSpPr>
        <p:spPr>
          <a:xfrm>
            <a:off x="3621606" y="1806700"/>
            <a:ext cx="1900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299" name="Google Shape;299;p31"/>
          <p:cNvSpPr txBox="1">
            <a:spLocks noGrp="1"/>
          </p:cNvSpPr>
          <p:nvPr>
            <p:ph type="subTitle" idx="9"/>
          </p:nvPr>
        </p:nvSpPr>
        <p:spPr>
          <a:xfrm>
            <a:off x="5809073" y="1806700"/>
            <a:ext cx="1900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300" name="Google Shape;300;p31"/>
          <p:cNvSpPr txBox="1">
            <a:spLocks noGrp="1"/>
          </p:cNvSpPr>
          <p:nvPr>
            <p:ph type="subTitle" idx="13"/>
          </p:nvPr>
        </p:nvSpPr>
        <p:spPr>
          <a:xfrm>
            <a:off x="1434138" y="3075775"/>
            <a:ext cx="1900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301" name="Google Shape;301;p31"/>
          <p:cNvSpPr txBox="1">
            <a:spLocks noGrp="1"/>
          </p:cNvSpPr>
          <p:nvPr>
            <p:ph type="subTitle" idx="14"/>
          </p:nvPr>
        </p:nvSpPr>
        <p:spPr>
          <a:xfrm>
            <a:off x="3621606" y="3075775"/>
            <a:ext cx="1900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302" name="Google Shape;302;p31"/>
          <p:cNvSpPr txBox="1">
            <a:spLocks noGrp="1"/>
          </p:cNvSpPr>
          <p:nvPr>
            <p:ph type="subTitle" idx="15"/>
          </p:nvPr>
        </p:nvSpPr>
        <p:spPr>
          <a:xfrm>
            <a:off x="5809073" y="3075775"/>
            <a:ext cx="1900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grpSp>
        <p:nvGrpSpPr>
          <p:cNvPr id="303" name="Google Shape;303;p31"/>
          <p:cNvGrpSpPr/>
          <p:nvPr/>
        </p:nvGrpSpPr>
        <p:grpSpPr>
          <a:xfrm>
            <a:off x="435875" y="97275"/>
            <a:ext cx="8272250" cy="4900925"/>
            <a:chOff x="435875" y="97275"/>
            <a:chExt cx="8272250" cy="4900925"/>
          </a:xfrm>
        </p:grpSpPr>
        <p:grpSp>
          <p:nvGrpSpPr>
            <p:cNvPr id="304" name="Google Shape;304;p31"/>
            <p:cNvGrpSpPr/>
            <p:nvPr/>
          </p:nvGrpSpPr>
          <p:grpSpPr>
            <a:xfrm flipH="1">
              <a:off x="435875" y="1292300"/>
              <a:ext cx="90900" cy="3705900"/>
              <a:chOff x="7952125" y="1292300"/>
              <a:chExt cx="90900" cy="3705900"/>
            </a:xfrm>
          </p:grpSpPr>
          <p:sp>
            <p:nvSpPr>
              <p:cNvPr id="305" name="Google Shape;305;p31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06" name="Google Shape;306;p31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07" name="Google Shape;307;p31"/>
            <p:cNvGrpSpPr/>
            <p:nvPr/>
          </p:nvGrpSpPr>
          <p:grpSpPr>
            <a:xfrm rot="10800000">
              <a:off x="8617225" y="97275"/>
              <a:ext cx="90900" cy="3705900"/>
              <a:chOff x="7952125" y="1292300"/>
              <a:chExt cx="90900" cy="3705900"/>
            </a:xfrm>
          </p:grpSpPr>
          <p:sp>
            <p:nvSpPr>
              <p:cNvPr id="308" name="Google Shape;308;p31"/>
              <p:cNvSpPr/>
              <p:nvPr/>
            </p:nvSpPr>
            <p:spPr>
              <a:xfrm rot="5400000">
                <a:off x="7744975" y="1499450"/>
                <a:ext cx="505200" cy="90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09" name="Google Shape;309;p31"/>
              <p:cNvCxnSpPr/>
              <p:nvPr/>
            </p:nvCxnSpPr>
            <p:spPr>
              <a:xfrm>
                <a:off x="8043025" y="1292300"/>
                <a:ext cx="0" cy="370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2_1_1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3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33"/>
          <p:cNvSpPr txBox="1">
            <a:spLocks noGrp="1"/>
          </p:cNvSpPr>
          <p:nvPr>
            <p:ph type="subTitle" idx="1"/>
          </p:nvPr>
        </p:nvSpPr>
        <p:spPr>
          <a:xfrm>
            <a:off x="720000" y="2482875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subTitle" idx="2"/>
          </p:nvPr>
        </p:nvSpPr>
        <p:spPr>
          <a:xfrm>
            <a:off x="720000" y="2967679"/>
            <a:ext cx="23364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subTitle" idx="3"/>
          </p:nvPr>
        </p:nvSpPr>
        <p:spPr>
          <a:xfrm>
            <a:off x="3403800" y="2967679"/>
            <a:ext cx="23364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subTitle" idx="4"/>
          </p:nvPr>
        </p:nvSpPr>
        <p:spPr>
          <a:xfrm>
            <a:off x="6087600" y="2967679"/>
            <a:ext cx="23364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subTitle" idx="5"/>
          </p:nvPr>
        </p:nvSpPr>
        <p:spPr>
          <a:xfrm>
            <a:off x="3403800" y="2482875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subTitle" idx="6"/>
          </p:nvPr>
        </p:nvSpPr>
        <p:spPr>
          <a:xfrm>
            <a:off x="6087600" y="2482875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erif Ethiopic"/>
              <a:buNone/>
              <a:defRPr sz="24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>
            <a:spLocks noGrp="1"/>
          </p:cNvSpPr>
          <p:nvPr>
            <p:ph type="title" idx="7" hasCustomPrompt="1"/>
          </p:nvPr>
        </p:nvSpPr>
        <p:spPr>
          <a:xfrm>
            <a:off x="1250550" y="364717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5" name="Google Shape;335;p33"/>
          <p:cNvSpPr txBox="1">
            <a:spLocks noGrp="1"/>
          </p:cNvSpPr>
          <p:nvPr>
            <p:ph type="title" idx="8" hasCustomPrompt="1"/>
          </p:nvPr>
        </p:nvSpPr>
        <p:spPr>
          <a:xfrm>
            <a:off x="3934350" y="364717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6" name="Google Shape;336;p33"/>
          <p:cNvSpPr txBox="1">
            <a:spLocks noGrp="1"/>
          </p:cNvSpPr>
          <p:nvPr>
            <p:ph type="title" idx="9" hasCustomPrompt="1"/>
          </p:nvPr>
        </p:nvSpPr>
        <p:spPr>
          <a:xfrm>
            <a:off x="6618150" y="364717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337" name="Google Shape;337;p33"/>
          <p:cNvGrpSpPr/>
          <p:nvPr/>
        </p:nvGrpSpPr>
        <p:grpSpPr>
          <a:xfrm>
            <a:off x="181160" y="4688623"/>
            <a:ext cx="8385900" cy="90900"/>
            <a:chOff x="160950" y="480600"/>
            <a:chExt cx="8385900" cy="90900"/>
          </a:xfrm>
        </p:grpSpPr>
        <p:cxnSp>
          <p:nvCxnSpPr>
            <p:cNvPr id="338" name="Google Shape;338;p33"/>
            <p:cNvCxnSpPr/>
            <p:nvPr/>
          </p:nvCxnSpPr>
          <p:spPr>
            <a:xfrm>
              <a:off x="160950" y="571500"/>
              <a:ext cx="8385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9" name="Google Shape;339;p33"/>
            <p:cNvSpPr/>
            <p:nvPr/>
          </p:nvSpPr>
          <p:spPr>
            <a:xfrm>
              <a:off x="8041650" y="4806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4" name="Google Shape;354;p35"/>
          <p:cNvGrpSpPr/>
          <p:nvPr/>
        </p:nvGrpSpPr>
        <p:grpSpPr>
          <a:xfrm rot="5400000">
            <a:off x="-1374375" y="3095450"/>
            <a:ext cx="3697200" cy="90900"/>
            <a:chOff x="1239825" y="571500"/>
            <a:chExt cx="3697200" cy="90900"/>
          </a:xfrm>
        </p:grpSpPr>
        <p:cxnSp>
          <p:nvCxnSpPr>
            <p:cNvPr id="355" name="Google Shape;355;p35"/>
            <p:cNvCxnSpPr/>
            <p:nvPr/>
          </p:nvCxnSpPr>
          <p:spPr>
            <a:xfrm rot="10800000">
              <a:off x="3088425" y="-1277100"/>
              <a:ext cx="0" cy="369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6" name="Google Shape;356;p35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7" name="Google Shape;357;p35"/>
          <p:cNvGrpSpPr/>
          <p:nvPr/>
        </p:nvGrpSpPr>
        <p:grpSpPr>
          <a:xfrm rot="-5400000">
            <a:off x="6802600" y="1948950"/>
            <a:ext cx="3697200" cy="90900"/>
            <a:chOff x="1239825" y="571500"/>
            <a:chExt cx="3697200" cy="90900"/>
          </a:xfrm>
        </p:grpSpPr>
        <p:cxnSp>
          <p:nvCxnSpPr>
            <p:cNvPr id="358" name="Google Shape;358;p35"/>
            <p:cNvCxnSpPr/>
            <p:nvPr/>
          </p:nvCxnSpPr>
          <p:spPr>
            <a:xfrm rot="10800000">
              <a:off x="3088425" y="-1277100"/>
              <a:ext cx="0" cy="369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9" name="Google Shape;359;p35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6"/>
          <p:cNvSpPr/>
          <p:nvPr/>
        </p:nvSpPr>
        <p:spPr>
          <a:xfrm>
            <a:off x="171450" y="145800"/>
            <a:ext cx="8801100" cy="48519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2" name="Google Shape;362;p36"/>
          <p:cNvGrpSpPr/>
          <p:nvPr/>
        </p:nvGrpSpPr>
        <p:grpSpPr>
          <a:xfrm rot="10800000">
            <a:off x="165548" y="4741850"/>
            <a:ext cx="6506400" cy="90900"/>
            <a:chOff x="1239825" y="571500"/>
            <a:chExt cx="6506400" cy="90900"/>
          </a:xfrm>
        </p:grpSpPr>
        <p:cxnSp>
          <p:nvCxnSpPr>
            <p:cNvPr id="363" name="Google Shape;363;p36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4" name="Google Shape;364;p36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" name="Google Shape;365;p36"/>
          <p:cNvGrpSpPr/>
          <p:nvPr/>
        </p:nvGrpSpPr>
        <p:grpSpPr>
          <a:xfrm rot="10800000" flipH="1">
            <a:off x="2467871" y="298450"/>
            <a:ext cx="6506400" cy="90900"/>
            <a:chOff x="1239825" y="571500"/>
            <a:chExt cx="6506400" cy="90900"/>
          </a:xfrm>
        </p:grpSpPr>
        <p:cxnSp>
          <p:nvCxnSpPr>
            <p:cNvPr id="366" name="Google Shape;366;p36"/>
            <p:cNvCxnSpPr/>
            <p:nvPr/>
          </p:nvCxnSpPr>
          <p:spPr>
            <a:xfrm>
              <a:off x="1239825" y="571500"/>
              <a:ext cx="6506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7" name="Google Shape;367;p36"/>
            <p:cNvSpPr/>
            <p:nvPr/>
          </p:nvSpPr>
          <p:spPr>
            <a:xfrm>
              <a:off x="1239825" y="5715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o Serif Ethiopic"/>
              <a:buNone/>
              <a:defRPr sz="3500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7" r:id="rId6"/>
    <p:sldLayoutId id="2147483658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71" r:id="rId13"/>
    <p:sldLayoutId id="2147483673" r:id="rId14"/>
    <p:sldLayoutId id="2147483674" r:id="rId15"/>
    <p:sldLayoutId id="2147483675" r:id="rId16"/>
    <p:sldLayoutId id="2147483677" r:id="rId17"/>
    <p:sldLayoutId id="2147483679" r:id="rId18"/>
    <p:sldLayoutId id="2147483681" r:id="rId19"/>
    <p:sldLayoutId id="2147483682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gplot2.tidyverse.org/reference/index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gplot2.tidyverse.org/reference/index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lotly.com/r/getting-started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plotly.com/r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hiny.posit.co/r/getstarted/shiny-basics/lesson1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yvonne6341yang.shinyapps.io/sc_visualization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allery.shinyapps.io/assistant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gplot2.tidyverse.org/reference/index.htm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gallery.shinyapps.io/assistant/" TargetMode="External"/><Relationship Id="rId5" Type="http://schemas.openxmlformats.org/officeDocument/2006/relationships/hyperlink" Target="https://shiny.posit.co/r/getstarted/shiny-basics/lesson1/" TargetMode="External"/><Relationship Id="rId4" Type="http://schemas.openxmlformats.org/officeDocument/2006/relationships/hyperlink" Target="https://rkabacoff.github.io/datavis/IntroGGPLO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"/>
          <p:cNvSpPr txBox="1">
            <a:spLocks noGrp="1"/>
          </p:cNvSpPr>
          <p:nvPr>
            <p:ph type="ctrTitle"/>
          </p:nvPr>
        </p:nvSpPr>
        <p:spPr>
          <a:xfrm>
            <a:off x="1251699" y="1050088"/>
            <a:ext cx="5669491" cy="19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Data Visualization in R</a:t>
            </a:r>
            <a:endParaRPr sz="4800" dirty="0"/>
          </a:p>
        </p:txBody>
      </p:sp>
      <p:sp>
        <p:nvSpPr>
          <p:cNvPr id="379" name="Google Shape;379;p40"/>
          <p:cNvSpPr txBox="1">
            <a:spLocks noGrp="1"/>
          </p:cNvSpPr>
          <p:nvPr>
            <p:ph type="subTitle" idx="1"/>
          </p:nvPr>
        </p:nvSpPr>
        <p:spPr>
          <a:xfrm>
            <a:off x="1251700" y="3040063"/>
            <a:ext cx="48903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katab"/>
                <a:ea typeface="Akatab"/>
                <a:cs typeface="Akatab"/>
                <a:sym typeface="Akatab"/>
              </a:rPr>
              <a:t>Yvonne Yang</a:t>
            </a:r>
            <a:endParaRPr dirty="0">
              <a:latin typeface="Akatab"/>
              <a:ea typeface="Akatab"/>
              <a:cs typeface="Akatab"/>
              <a:sym typeface="Akatab"/>
            </a:endParaRPr>
          </a:p>
        </p:txBody>
      </p:sp>
      <p:grpSp>
        <p:nvGrpSpPr>
          <p:cNvPr id="380" name="Google Shape;380;p40"/>
          <p:cNvGrpSpPr/>
          <p:nvPr/>
        </p:nvGrpSpPr>
        <p:grpSpPr>
          <a:xfrm rot="10800000">
            <a:off x="597150" y="4546275"/>
            <a:ext cx="8385900" cy="90900"/>
            <a:chOff x="160950" y="480600"/>
            <a:chExt cx="8385900" cy="90900"/>
          </a:xfrm>
        </p:grpSpPr>
        <p:cxnSp>
          <p:nvCxnSpPr>
            <p:cNvPr id="381" name="Google Shape;381;p40"/>
            <p:cNvCxnSpPr/>
            <p:nvPr/>
          </p:nvCxnSpPr>
          <p:spPr>
            <a:xfrm>
              <a:off x="160950" y="571500"/>
              <a:ext cx="8385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82" name="Google Shape;382;p40"/>
            <p:cNvSpPr/>
            <p:nvPr/>
          </p:nvSpPr>
          <p:spPr>
            <a:xfrm>
              <a:off x="8041650" y="48060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" name="Google Shape;383;p40"/>
          <p:cNvGrpSpPr/>
          <p:nvPr/>
        </p:nvGrpSpPr>
        <p:grpSpPr>
          <a:xfrm>
            <a:off x="7952125" y="1292300"/>
            <a:ext cx="90900" cy="3705900"/>
            <a:chOff x="7952125" y="1292300"/>
            <a:chExt cx="90900" cy="3705900"/>
          </a:xfrm>
        </p:grpSpPr>
        <p:sp>
          <p:nvSpPr>
            <p:cNvPr id="384" name="Google Shape;384;p40"/>
            <p:cNvSpPr/>
            <p:nvPr/>
          </p:nvSpPr>
          <p:spPr>
            <a:xfrm rot="5400000">
              <a:off x="7744975" y="1499450"/>
              <a:ext cx="505200" cy="9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85" name="Google Shape;385;p40"/>
            <p:cNvCxnSpPr/>
            <p:nvPr/>
          </p:nvCxnSpPr>
          <p:spPr>
            <a:xfrm>
              <a:off x="8043025" y="1292300"/>
              <a:ext cx="0" cy="3705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1"/>
          <p:cNvSpPr txBox="1">
            <a:spLocks noGrp="1"/>
          </p:cNvSpPr>
          <p:nvPr>
            <p:ph type="title"/>
          </p:nvPr>
        </p:nvSpPr>
        <p:spPr>
          <a:xfrm>
            <a:off x="720000" y="4559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Tables of contents</a:t>
            </a:r>
            <a:endParaRPr b="1" dirty="0"/>
          </a:p>
        </p:txBody>
      </p:sp>
      <p:sp>
        <p:nvSpPr>
          <p:cNvPr id="4" name="Google Shape;445;p45">
            <a:extLst>
              <a:ext uri="{FF2B5EF4-FFF2-40B4-BE49-F238E27FC236}">
                <a16:creationId xmlns:a16="http://schemas.microsoft.com/office/drawing/2014/main" id="{4378739B-7F12-B80E-1AD7-F368CC419742}"/>
              </a:ext>
            </a:extLst>
          </p:cNvPr>
          <p:cNvSpPr txBox="1">
            <a:spLocks/>
          </p:cNvSpPr>
          <p:nvPr/>
        </p:nvSpPr>
        <p:spPr>
          <a:xfrm>
            <a:off x="851619" y="1128562"/>
            <a:ext cx="7201000" cy="3117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171450" indent="-171450" algn="l">
              <a:lnSpc>
                <a:spcPct val="200000"/>
              </a:lnSpc>
            </a:pPr>
            <a:r>
              <a:rPr lang="en-US" sz="2400" dirty="0">
                <a:latin typeface="Noto Serif Ethiopic"/>
                <a:sym typeface="Noto Serif Ethiopic"/>
              </a:rPr>
              <a:t>Introduction to visualization </a:t>
            </a:r>
          </a:p>
          <a:p>
            <a:pPr marL="171450" indent="-171450" algn="l">
              <a:lnSpc>
                <a:spcPct val="200000"/>
              </a:lnSpc>
            </a:pPr>
            <a:r>
              <a:rPr lang="en-US" sz="2400" dirty="0">
                <a:latin typeface="Noto Serif Ethiopic"/>
                <a:sym typeface="Noto Serif Ethiopic"/>
              </a:rPr>
              <a:t>Static Visualization (</a:t>
            </a:r>
            <a:r>
              <a:rPr lang="en-US" sz="2400" dirty="0" err="1">
                <a:latin typeface="Noto Serif Ethiopic"/>
                <a:sym typeface="Noto Serif Ethiopic"/>
              </a:rPr>
              <a:t>ggplot</a:t>
            </a:r>
            <a:r>
              <a:rPr lang="en-US" sz="2400" dirty="0">
                <a:latin typeface="Noto Serif Ethiopic"/>
                <a:sym typeface="Noto Serif Ethiopic"/>
              </a:rPr>
              <a:t>)</a:t>
            </a:r>
          </a:p>
          <a:p>
            <a:pPr marL="171450" indent="-171450" algn="l">
              <a:lnSpc>
                <a:spcPct val="200000"/>
              </a:lnSpc>
            </a:pPr>
            <a:r>
              <a:rPr lang="en-US" sz="2400" dirty="0">
                <a:latin typeface="Noto Serif Ethiopic"/>
                <a:sym typeface="Noto Serif Ethiopic"/>
              </a:rPr>
              <a:t>Interactive Visualization (</a:t>
            </a:r>
            <a:r>
              <a:rPr lang="en-US" sz="2400" dirty="0" err="1">
                <a:latin typeface="Noto Serif Ethiopic"/>
                <a:sym typeface="Noto Serif Ethiopic"/>
              </a:rPr>
              <a:t>plotly</a:t>
            </a:r>
            <a:r>
              <a:rPr lang="en-US" sz="2400" dirty="0">
                <a:latin typeface="Noto Serif Ethiopic"/>
                <a:sym typeface="Noto Serif Ethiopic"/>
              </a:rPr>
              <a:t> &amp; </a:t>
            </a:r>
            <a:r>
              <a:rPr lang="en-US" sz="2400" dirty="0" err="1">
                <a:latin typeface="Noto Serif Ethiopic"/>
                <a:sym typeface="Noto Serif Ethiopic"/>
              </a:rPr>
              <a:t>ggplotly</a:t>
            </a:r>
            <a:r>
              <a:rPr lang="en-US" sz="2400" dirty="0">
                <a:latin typeface="Noto Serif Ethiopic"/>
                <a:sym typeface="Noto Serif Ethiopic"/>
              </a:rPr>
              <a:t>)</a:t>
            </a:r>
          </a:p>
          <a:p>
            <a:pPr marL="171450" indent="-171450" algn="l">
              <a:lnSpc>
                <a:spcPct val="200000"/>
              </a:lnSpc>
            </a:pPr>
            <a:r>
              <a:rPr lang="en-US" sz="2400" dirty="0">
                <a:latin typeface="Noto Serif Ethiopic"/>
                <a:sym typeface="Noto Serif Ethiopic"/>
              </a:rPr>
              <a:t>Shiny</a:t>
            </a:r>
          </a:p>
          <a:p>
            <a:pPr marL="171450" indent="-171450" algn="l">
              <a:lnSpc>
                <a:spcPct val="150000"/>
              </a:lnSpc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4"/>
          <p:cNvSpPr txBox="1">
            <a:spLocks noGrp="1"/>
          </p:cNvSpPr>
          <p:nvPr>
            <p:ph type="title"/>
          </p:nvPr>
        </p:nvSpPr>
        <p:spPr>
          <a:xfrm>
            <a:off x="1393550" y="3085682"/>
            <a:ext cx="5880083" cy="6820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Introduction to Visualization</a:t>
            </a:r>
            <a:endParaRPr sz="3200" dirty="0"/>
          </a:p>
        </p:txBody>
      </p:sp>
      <p:sp>
        <p:nvSpPr>
          <p:cNvPr id="433" name="Google Shape;433;p44"/>
          <p:cNvSpPr txBox="1">
            <a:spLocks noGrp="1"/>
          </p:cNvSpPr>
          <p:nvPr>
            <p:ph type="title" idx="2"/>
          </p:nvPr>
        </p:nvSpPr>
        <p:spPr>
          <a:xfrm>
            <a:off x="1393550" y="2150850"/>
            <a:ext cx="1200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434" name="Google Shape;434;p44"/>
          <p:cNvGrpSpPr/>
          <p:nvPr/>
        </p:nvGrpSpPr>
        <p:grpSpPr>
          <a:xfrm flipH="1">
            <a:off x="576156" y="508623"/>
            <a:ext cx="8385900" cy="90900"/>
            <a:chOff x="160950" y="480600"/>
            <a:chExt cx="8385900" cy="90900"/>
          </a:xfrm>
        </p:grpSpPr>
        <p:cxnSp>
          <p:nvCxnSpPr>
            <p:cNvPr id="435" name="Google Shape;435;p44"/>
            <p:cNvCxnSpPr/>
            <p:nvPr/>
          </p:nvCxnSpPr>
          <p:spPr>
            <a:xfrm>
              <a:off x="160950" y="571500"/>
              <a:ext cx="8385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6" name="Google Shape;436;p44"/>
            <p:cNvSpPr/>
            <p:nvPr/>
          </p:nvSpPr>
          <p:spPr>
            <a:xfrm>
              <a:off x="8041650" y="480600"/>
              <a:ext cx="505200" cy="90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7" name="Google Shape;437;p44"/>
          <p:cNvGrpSpPr/>
          <p:nvPr/>
        </p:nvGrpSpPr>
        <p:grpSpPr>
          <a:xfrm rot="10800000">
            <a:off x="7961770" y="1295598"/>
            <a:ext cx="90900" cy="3697200"/>
            <a:chOff x="1113520" y="156298"/>
            <a:chExt cx="90900" cy="3697200"/>
          </a:xfrm>
        </p:grpSpPr>
        <p:sp>
          <p:nvSpPr>
            <p:cNvPr id="438" name="Google Shape;438;p44"/>
            <p:cNvSpPr/>
            <p:nvPr/>
          </p:nvSpPr>
          <p:spPr>
            <a:xfrm rot="-5400000">
              <a:off x="906370" y="3555448"/>
              <a:ext cx="505200" cy="90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39" name="Google Shape;439;p44"/>
            <p:cNvCxnSpPr/>
            <p:nvPr/>
          </p:nvCxnSpPr>
          <p:spPr>
            <a:xfrm rot="10800000">
              <a:off x="1121185" y="156298"/>
              <a:ext cx="0" cy="3434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5"/>
          <p:cNvSpPr txBox="1">
            <a:spLocks noGrp="1"/>
          </p:cNvSpPr>
          <p:nvPr>
            <p:ph type="title"/>
          </p:nvPr>
        </p:nvSpPr>
        <p:spPr>
          <a:xfrm>
            <a:off x="720000" y="37575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Why Visualization Matters?</a:t>
            </a:r>
            <a:endParaRPr b="1" dirty="0"/>
          </a:p>
        </p:txBody>
      </p:sp>
      <p:sp>
        <p:nvSpPr>
          <p:cNvPr id="6" name="Google Shape;445;p45">
            <a:extLst>
              <a:ext uri="{FF2B5EF4-FFF2-40B4-BE49-F238E27FC236}">
                <a16:creationId xmlns:a16="http://schemas.microsoft.com/office/drawing/2014/main" id="{16BDA73B-D6DE-63F6-6E74-3356488C7130}"/>
              </a:ext>
            </a:extLst>
          </p:cNvPr>
          <p:cNvSpPr txBox="1">
            <a:spLocks/>
          </p:cNvSpPr>
          <p:nvPr/>
        </p:nvSpPr>
        <p:spPr>
          <a:xfrm>
            <a:off x="484910" y="1128562"/>
            <a:ext cx="7536872" cy="68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171450" indent="-171450" algn="l">
              <a:lnSpc>
                <a:spcPct val="200000"/>
              </a:lnSpc>
            </a:pPr>
            <a:r>
              <a:rPr lang="en-US" sz="1500" dirty="0">
                <a:latin typeface="Noto Serif Ethiopic"/>
                <a:sym typeface="Noto Serif Ethiopic"/>
              </a:rPr>
              <a:t>It helps us see patterns quickly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8B8FBA-165D-5BF3-6036-0E9DB34AA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464457"/>
              </p:ext>
            </p:extLst>
          </p:nvPr>
        </p:nvGraphicFramePr>
        <p:xfrm>
          <a:off x="1122218" y="2345744"/>
          <a:ext cx="6096000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47368181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5001937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5971849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65970054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646698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509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Model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28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Model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494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Model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66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Model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103855"/>
                  </a:ext>
                </a:extLst>
              </a:tr>
            </a:tbl>
          </a:graphicData>
        </a:graphic>
      </p:graphicFrame>
      <p:sp>
        <p:nvSpPr>
          <p:cNvPr id="12" name="Google Shape;445;p45">
            <a:extLst>
              <a:ext uri="{FF2B5EF4-FFF2-40B4-BE49-F238E27FC236}">
                <a16:creationId xmlns:a16="http://schemas.microsoft.com/office/drawing/2014/main" id="{E6676343-09E2-E9DE-D24E-CC5312E12F1B}"/>
              </a:ext>
            </a:extLst>
          </p:cNvPr>
          <p:cNvSpPr txBox="1">
            <a:spLocks/>
          </p:cNvSpPr>
          <p:nvPr/>
        </p:nvSpPr>
        <p:spPr>
          <a:xfrm>
            <a:off x="887128" y="1638140"/>
            <a:ext cx="7536872" cy="68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0" indent="0" algn="l">
              <a:lnSpc>
                <a:spcPct val="200000"/>
              </a:lnSpc>
              <a:buNone/>
            </a:pPr>
            <a:r>
              <a:rPr lang="en-US" sz="1500" dirty="0">
                <a:solidFill>
                  <a:schemeClr val="accent1"/>
                </a:solidFill>
                <a:latin typeface="Noto Serif Ethiopic"/>
                <a:sym typeface="Noto Serif Ethiopic"/>
              </a:rPr>
              <a:t>e.g. Which model performs best for each metrics?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>
          <a:extLst>
            <a:ext uri="{FF2B5EF4-FFF2-40B4-BE49-F238E27FC236}">
              <a16:creationId xmlns:a16="http://schemas.microsoft.com/office/drawing/2014/main" id="{E426434F-5784-1043-2E93-BB7763BA9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A5AF62-FC0B-8043-DF79-2551EC0C1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11" y="360565"/>
            <a:ext cx="7550727" cy="423491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047FD470-D41E-E1C3-39FB-731181C03667}"/>
              </a:ext>
            </a:extLst>
          </p:cNvPr>
          <p:cNvSpPr/>
          <p:nvPr/>
        </p:nvSpPr>
        <p:spPr>
          <a:xfrm>
            <a:off x="2288458" y="548019"/>
            <a:ext cx="1236406" cy="6156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7E2538B-CAA9-6A6A-84C8-1544963BC7D8}"/>
              </a:ext>
            </a:extLst>
          </p:cNvPr>
          <p:cNvSpPr/>
          <p:nvPr/>
        </p:nvSpPr>
        <p:spPr>
          <a:xfrm>
            <a:off x="5178248" y="464445"/>
            <a:ext cx="1236406" cy="6156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691D6AA-8EE9-3218-8BE4-3ADAD8379A9E}"/>
              </a:ext>
            </a:extLst>
          </p:cNvPr>
          <p:cNvSpPr/>
          <p:nvPr/>
        </p:nvSpPr>
        <p:spPr>
          <a:xfrm>
            <a:off x="3177383" y="2408774"/>
            <a:ext cx="1236406" cy="6156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36018D-0D57-9E3E-593E-66CAE7856907}"/>
              </a:ext>
            </a:extLst>
          </p:cNvPr>
          <p:cNvSpPr/>
          <p:nvPr/>
        </p:nvSpPr>
        <p:spPr>
          <a:xfrm>
            <a:off x="6065609" y="2478023"/>
            <a:ext cx="1236406" cy="6156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6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>
          <a:extLst>
            <a:ext uri="{FF2B5EF4-FFF2-40B4-BE49-F238E27FC236}">
              <a16:creationId xmlns:a16="http://schemas.microsoft.com/office/drawing/2014/main" id="{DD4FDE34-DA6C-EF21-26D8-57976D423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5">
            <a:extLst>
              <a:ext uri="{FF2B5EF4-FFF2-40B4-BE49-F238E27FC236}">
                <a16:creationId xmlns:a16="http://schemas.microsoft.com/office/drawing/2014/main" id="{49C704AF-4AFF-BFDF-128E-5C8A249CC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7575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Why Visualization Matters?</a:t>
            </a:r>
            <a:endParaRPr b="1" dirty="0"/>
          </a:p>
        </p:txBody>
      </p:sp>
      <p:sp>
        <p:nvSpPr>
          <p:cNvPr id="6" name="Google Shape;445;p45">
            <a:extLst>
              <a:ext uri="{FF2B5EF4-FFF2-40B4-BE49-F238E27FC236}">
                <a16:creationId xmlns:a16="http://schemas.microsoft.com/office/drawing/2014/main" id="{8391224E-BCEC-4A07-2E2C-BF991C660143}"/>
              </a:ext>
            </a:extLst>
          </p:cNvPr>
          <p:cNvSpPr txBox="1">
            <a:spLocks/>
          </p:cNvSpPr>
          <p:nvPr/>
        </p:nvSpPr>
        <p:spPr>
          <a:xfrm>
            <a:off x="484910" y="1113503"/>
            <a:ext cx="7536872" cy="3015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342900" indent="-342900" algn="l">
              <a:lnSpc>
                <a:spcPct val="200000"/>
              </a:lnSpc>
            </a:pPr>
            <a:r>
              <a:rPr lang="en-US" sz="1800" dirty="0">
                <a:latin typeface="Noto Serif Ethiopic"/>
                <a:sym typeface="Noto Serif Ethiopic"/>
              </a:rPr>
              <a:t>It helps us see patterns quickly</a:t>
            </a:r>
          </a:p>
          <a:p>
            <a:pPr marL="342900" indent="-342900" algn="l">
              <a:lnSpc>
                <a:spcPct val="200000"/>
              </a:lnSpc>
            </a:pPr>
            <a:r>
              <a:rPr lang="en-US" sz="1800" dirty="0">
                <a:latin typeface="Noto Serif Ethiopic"/>
                <a:sym typeface="Noto Serif Ethiopic"/>
              </a:rPr>
              <a:t>It sometimes drives decision making process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sz="1800" dirty="0">
                <a:latin typeface="Noto Serif Ethiopic"/>
                <a:sym typeface="Noto Serif Ethiopic"/>
              </a:rPr>
              <a:t>Exploratory Data Analysis 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sz="1800" dirty="0">
                <a:latin typeface="Noto Serif Ethiopic"/>
                <a:sym typeface="Noto Serif Ethiopic"/>
              </a:rPr>
              <a:t>Diagnosis check before modeling</a:t>
            </a:r>
          </a:p>
          <a:p>
            <a:pPr marL="342900" indent="-342900" algn="l">
              <a:lnSpc>
                <a:spcPct val="200000"/>
              </a:lnSpc>
            </a:pPr>
            <a:r>
              <a:rPr lang="en-US" sz="1800" dirty="0">
                <a:latin typeface="Noto Serif Ethiopic"/>
                <a:sym typeface="Noto Serif Ethiopic"/>
              </a:rPr>
              <a:t>It could be misleading </a:t>
            </a:r>
            <a:r>
              <a:rPr lang="en-US" sz="1800" dirty="0">
                <a:latin typeface="Noto Serif Ethiopic"/>
                <a:sym typeface="Wingdings" pitchFamily="2" charset="2"/>
              </a:rPr>
              <a:t></a:t>
            </a:r>
            <a:endParaRPr lang="en-US" sz="1800" dirty="0">
              <a:latin typeface="Noto Serif Ethiopic"/>
              <a:sym typeface="Noto Serif Ethiopic"/>
            </a:endParaRPr>
          </a:p>
        </p:txBody>
      </p:sp>
    </p:spTree>
    <p:extLst>
      <p:ext uri="{BB962C8B-B14F-4D97-AF65-F5344CB8AC3E}">
        <p14:creationId xmlns:p14="http://schemas.microsoft.com/office/powerpoint/2010/main" val="3039703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DB2EAB-9AED-8BF6-9D04-CFE3CBE6A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Visualization Matters?</a:t>
            </a:r>
          </a:p>
        </p:txBody>
      </p:sp>
      <p:sp>
        <p:nvSpPr>
          <p:cNvPr id="7" name="Google Shape;445;p45">
            <a:extLst>
              <a:ext uri="{FF2B5EF4-FFF2-40B4-BE49-F238E27FC236}">
                <a16:creationId xmlns:a16="http://schemas.microsoft.com/office/drawing/2014/main" id="{33B18530-072B-98B9-8BB6-01327D33318E}"/>
              </a:ext>
            </a:extLst>
          </p:cNvPr>
          <p:cNvSpPr txBox="1">
            <a:spLocks/>
          </p:cNvSpPr>
          <p:nvPr/>
        </p:nvSpPr>
        <p:spPr>
          <a:xfrm>
            <a:off x="484910" y="1017726"/>
            <a:ext cx="7536872" cy="67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342900" indent="-342900" algn="l">
              <a:lnSpc>
                <a:spcPct val="200000"/>
              </a:lnSpc>
            </a:pPr>
            <a:r>
              <a:rPr lang="en-US" sz="1800" dirty="0">
                <a:latin typeface="Noto Serif Ethiopic"/>
                <a:sym typeface="Noto Serif Ethiopic"/>
              </a:rPr>
              <a:t>It could be misleading </a:t>
            </a:r>
            <a:r>
              <a:rPr lang="en-US" sz="1800" dirty="0">
                <a:latin typeface="Noto Serif Ethiopic"/>
                <a:sym typeface="Wingdings" pitchFamily="2" charset="2"/>
              </a:rPr>
              <a:t></a:t>
            </a:r>
          </a:p>
          <a:p>
            <a:pPr marL="342900" indent="-342900" algn="l">
              <a:lnSpc>
                <a:spcPct val="200000"/>
              </a:lnSpc>
            </a:pPr>
            <a:r>
              <a:rPr lang="en-US" sz="1800" dirty="0">
                <a:latin typeface="Noto Serif Ethiopic"/>
                <a:sym typeface="Wingdings" pitchFamily="2" charset="2"/>
              </a:rPr>
              <a:t>To avoid misleading plots, we have to: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sz="1800" dirty="0">
                <a:latin typeface="Noto Serif Ethiopic"/>
                <a:sym typeface="Wingdings" pitchFamily="2" charset="2"/>
              </a:rPr>
              <a:t>use appropriate axis scales 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sz="1800" dirty="0">
                <a:latin typeface="Noto Serif Ethiopic"/>
                <a:sym typeface="Wingdings" pitchFamily="2" charset="2"/>
              </a:rPr>
              <a:t>always include clear title, axis labels, and legend (if applicable)  </a:t>
            </a:r>
            <a:endParaRPr lang="en-US" sz="1800" dirty="0">
              <a:latin typeface="Noto Serif Ethiopic"/>
              <a:sym typeface="Noto Serif Ethiopic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7CE9451-3863-02E7-B796-4B47866A7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10" y="1853045"/>
            <a:ext cx="3607699" cy="2175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ED8A1AD-E50D-B9B5-395C-9018CEEC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083" y="1853045"/>
            <a:ext cx="3607699" cy="2175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537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7"/>
          <p:cNvSpPr txBox="1">
            <a:spLocks noGrp="1"/>
          </p:cNvSpPr>
          <p:nvPr>
            <p:ph type="title"/>
          </p:nvPr>
        </p:nvSpPr>
        <p:spPr>
          <a:xfrm>
            <a:off x="2352125" y="2350750"/>
            <a:ext cx="3487561" cy="13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Static Visualization</a:t>
            </a:r>
            <a:endParaRPr dirty="0"/>
          </a:p>
        </p:txBody>
      </p:sp>
      <p:sp>
        <p:nvSpPr>
          <p:cNvPr id="459" name="Google Shape;459;p47"/>
          <p:cNvSpPr txBox="1">
            <a:spLocks noGrp="1"/>
          </p:cNvSpPr>
          <p:nvPr>
            <p:ph type="title" idx="2"/>
          </p:nvPr>
        </p:nvSpPr>
        <p:spPr>
          <a:xfrm>
            <a:off x="1152125" y="2350752"/>
            <a:ext cx="1200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60" name="Google Shape;460;p47"/>
          <p:cNvSpPr txBox="1">
            <a:spLocks noGrp="1"/>
          </p:cNvSpPr>
          <p:nvPr>
            <p:ph type="subTitle" idx="1"/>
          </p:nvPr>
        </p:nvSpPr>
        <p:spPr>
          <a:xfrm>
            <a:off x="2352125" y="3718300"/>
            <a:ext cx="3555300" cy="4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</a:t>
            </a:r>
            <a:r>
              <a:rPr lang="en" dirty="0" err="1"/>
              <a:t>xploring</a:t>
            </a:r>
            <a:r>
              <a:rPr lang="en" dirty="0"/>
              <a:t> library(ggplot2)</a:t>
            </a:r>
            <a:endParaRPr dirty="0"/>
          </a:p>
        </p:txBody>
      </p:sp>
      <p:grpSp>
        <p:nvGrpSpPr>
          <p:cNvPr id="461" name="Google Shape;461;p47"/>
          <p:cNvGrpSpPr/>
          <p:nvPr/>
        </p:nvGrpSpPr>
        <p:grpSpPr>
          <a:xfrm flipH="1">
            <a:off x="577491" y="508623"/>
            <a:ext cx="8385900" cy="90900"/>
            <a:chOff x="160950" y="480600"/>
            <a:chExt cx="8385900" cy="90900"/>
          </a:xfrm>
        </p:grpSpPr>
        <p:cxnSp>
          <p:nvCxnSpPr>
            <p:cNvPr id="462" name="Google Shape;462;p47"/>
            <p:cNvCxnSpPr/>
            <p:nvPr/>
          </p:nvCxnSpPr>
          <p:spPr>
            <a:xfrm>
              <a:off x="160950" y="571500"/>
              <a:ext cx="8385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3" name="Google Shape;463;p47"/>
            <p:cNvSpPr/>
            <p:nvPr/>
          </p:nvSpPr>
          <p:spPr>
            <a:xfrm>
              <a:off x="8041650" y="480600"/>
              <a:ext cx="505200" cy="90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4" name="Google Shape;464;p47"/>
          <p:cNvGrpSpPr/>
          <p:nvPr/>
        </p:nvGrpSpPr>
        <p:grpSpPr>
          <a:xfrm flipH="1">
            <a:off x="7988270" y="150698"/>
            <a:ext cx="90900" cy="4415700"/>
            <a:chOff x="1113520" y="-562202"/>
            <a:chExt cx="90900" cy="4415700"/>
          </a:xfrm>
        </p:grpSpPr>
        <p:sp>
          <p:nvSpPr>
            <p:cNvPr id="465" name="Google Shape;465;p47"/>
            <p:cNvSpPr/>
            <p:nvPr/>
          </p:nvSpPr>
          <p:spPr>
            <a:xfrm rot="-5400000">
              <a:off x="906370" y="3555448"/>
              <a:ext cx="505200" cy="90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66" name="Google Shape;466;p47"/>
            <p:cNvCxnSpPr/>
            <p:nvPr/>
          </p:nvCxnSpPr>
          <p:spPr>
            <a:xfrm rot="10800000">
              <a:off x="1121185" y="-562202"/>
              <a:ext cx="0" cy="4153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8"/>
          <p:cNvSpPr txBox="1">
            <a:spLocks noGrp="1"/>
          </p:cNvSpPr>
          <p:nvPr>
            <p:ph type="title"/>
          </p:nvPr>
        </p:nvSpPr>
        <p:spPr>
          <a:xfrm>
            <a:off x="720000" y="31422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Summary of basic functions</a:t>
            </a:r>
            <a:endParaRPr b="1" dirty="0"/>
          </a:p>
        </p:txBody>
      </p:sp>
      <p:sp>
        <p:nvSpPr>
          <p:cNvPr id="10" name="Google Shape;445;p45">
            <a:extLst>
              <a:ext uri="{FF2B5EF4-FFF2-40B4-BE49-F238E27FC236}">
                <a16:creationId xmlns:a16="http://schemas.microsoft.com/office/drawing/2014/main" id="{B438D8B1-D3B0-7A88-B985-EDEA107E3BE2}"/>
              </a:ext>
            </a:extLst>
          </p:cNvPr>
          <p:cNvSpPr txBox="1">
            <a:spLocks/>
          </p:cNvSpPr>
          <p:nvPr/>
        </p:nvSpPr>
        <p:spPr>
          <a:xfrm>
            <a:off x="484909" y="921556"/>
            <a:ext cx="8021781" cy="361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342900" indent="-342900" algn="l">
              <a:lnSpc>
                <a:spcPct val="150000"/>
              </a:lnSpc>
            </a:pPr>
            <a:r>
              <a:rPr lang="en-US" sz="1400" dirty="0" err="1">
                <a:latin typeface="Noto Serif Ethiopic"/>
                <a:sym typeface="Noto Serif Ethiopic"/>
              </a:rPr>
              <a:t>ggplot</a:t>
            </a:r>
            <a:r>
              <a:rPr lang="en-US" sz="1400" dirty="0">
                <a:latin typeface="Noto Serif Ethiopic"/>
                <a:sym typeface="Noto Serif Ethiopic"/>
              </a:rPr>
              <a:t>()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Foundation of building a graph in </a:t>
            </a:r>
            <a:r>
              <a:rPr lang="en-US" dirty="0" err="1">
                <a:latin typeface="Noto Serif Ethiopic"/>
                <a:sym typeface="Noto Serif Ethiopic"/>
              </a:rPr>
              <a:t>ggplot</a:t>
            </a:r>
            <a:endParaRPr lang="en-US" dirty="0">
              <a:latin typeface="Noto Serif Ethiopic"/>
              <a:sym typeface="Noto Serif Ethiopic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1400" dirty="0" err="1">
                <a:latin typeface="Noto Serif Ethiopic"/>
                <a:sym typeface="Noto Serif Ethiopic"/>
              </a:rPr>
              <a:t>gemo</a:t>
            </a:r>
            <a:r>
              <a:rPr lang="en-US" sz="1400" dirty="0">
                <a:latin typeface="Noto Serif Ethiopic"/>
                <a:sym typeface="Noto Serif Ethiopic"/>
              </a:rPr>
              <a:t>_*()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define the geometric objects that can be placed on a graph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Can adjust color, size, and transparency</a:t>
            </a:r>
            <a:endParaRPr lang="en-US" sz="1400" dirty="0">
              <a:latin typeface="Noto Serif Ethiopic"/>
              <a:sym typeface="Noto Serif Ethiopic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1400" dirty="0" err="1">
                <a:latin typeface="Noto Serif Ethiopic"/>
                <a:sym typeface="Noto Serif Ethiopic"/>
              </a:rPr>
              <a:t>geom_smooth</a:t>
            </a:r>
            <a:r>
              <a:rPr lang="en-US" sz="1400" dirty="0">
                <a:latin typeface="Noto Serif Ethiopic"/>
                <a:sym typeface="Noto Serif Ethiopic"/>
              </a:rPr>
              <a:t>()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Fit a line that best fits the graph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>
                <a:latin typeface="Noto Serif Ethiopic"/>
                <a:sym typeface="Noto Serif Ethiopic"/>
              </a:rPr>
              <a:t>Can adjust </a:t>
            </a:r>
            <a:r>
              <a:rPr lang="en-US" dirty="0">
                <a:latin typeface="Noto Serif Ethiopic"/>
                <a:sym typeface="Noto Serif Ethiopic"/>
              </a:rPr>
              <a:t>for line types, thickness, color, and confidence band</a:t>
            </a:r>
          </a:p>
          <a:p>
            <a:pPr marL="342900" indent="-342900" algn="l">
              <a:lnSpc>
                <a:spcPct val="150000"/>
              </a:lnSpc>
            </a:pPr>
            <a:r>
              <a:rPr lang="en-US" sz="1400" dirty="0">
                <a:latin typeface="Noto Serif Ethiopic"/>
                <a:sym typeface="Noto Serif Ethiopic"/>
              </a:rPr>
              <a:t>labs()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Provides customized labels for axes and legends</a:t>
            </a:r>
            <a:endParaRPr lang="en-US" sz="1400" dirty="0">
              <a:latin typeface="Noto Serif Ethiopic"/>
              <a:sym typeface="Noto Serif Ethiopic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1400" dirty="0">
                <a:latin typeface="Noto Serif Ethiopic"/>
                <a:sym typeface="Noto Serif Ethiopic"/>
              </a:rPr>
              <a:t>theme_*()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Choose different themes to finish up the plot</a:t>
            </a:r>
          </a:p>
          <a:p>
            <a:pPr marL="342900" indent="-342900" algn="l">
              <a:lnSpc>
                <a:spcPct val="150000"/>
              </a:lnSpc>
            </a:pPr>
            <a:endParaRPr lang="en-US" sz="1400" dirty="0">
              <a:latin typeface="Noto Serif Ethiopic"/>
              <a:sym typeface="Noto Serif Ethiopic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sz="1400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sz="1400" dirty="0">
              <a:latin typeface="Noto Serif Ethiopic"/>
              <a:sym typeface="Noto Serif Ethiopic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7CBC45-88A4-7778-4D92-26AA3F2F1284}"/>
              </a:ext>
            </a:extLst>
          </p:cNvPr>
          <p:cNvSpPr txBox="1"/>
          <p:nvPr/>
        </p:nvSpPr>
        <p:spPr>
          <a:xfrm>
            <a:off x="574964" y="4630015"/>
            <a:ext cx="49778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hlinkClick r:id="rId3"/>
              </a:rPr>
              <a:t>ggplot2 reference website: https://ggplot2.tidyverse.org/reference/index.html</a:t>
            </a:r>
            <a:r>
              <a:rPr lang="en-US" sz="11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171DD53-83A0-AEFD-FD9B-892B49014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022" y="1510145"/>
            <a:ext cx="4116989" cy="2476124"/>
          </a:xfrm>
          <a:prstGeom prst="rect">
            <a:avLst/>
          </a:prstGeom>
        </p:spPr>
      </p:pic>
      <p:sp>
        <p:nvSpPr>
          <p:cNvPr id="17" name="Google Shape;472;p48">
            <a:extLst>
              <a:ext uri="{FF2B5EF4-FFF2-40B4-BE49-F238E27FC236}">
                <a16:creationId xmlns:a16="http://schemas.microsoft.com/office/drawing/2014/main" id="{217FC04C-00AD-0201-42A9-486FF7D28C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What’s more?</a:t>
            </a:r>
            <a:endParaRPr b="1" dirty="0"/>
          </a:p>
        </p:txBody>
      </p:sp>
      <p:sp>
        <p:nvSpPr>
          <p:cNvPr id="18" name="Google Shape;445;p45">
            <a:extLst>
              <a:ext uri="{FF2B5EF4-FFF2-40B4-BE49-F238E27FC236}">
                <a16:creationId xmlns:a16="http://schemas.microsoft.com/office/drawing/2014/main" id="{E5839A5D-83D5-3D07-FDF8-C14F3455008C}"/>
              </a:ext>
            </a:extLst>
          </p:cNvPr>
          <p:cNvSpPr txBox="1">
            <a:spLocks/>
          </p:cNvSpPr>
          <p:nvPr/>
        </p:nvSpPr>
        <p:spPr>
          <a:xfrm>
            <a:off x="484909" y="1442073"/>
            <a:ext cx="3693113" cy="276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342900" indent="-342900" algn="l">
              <a:lnSpc>
                <a:spcPct val="150000"/>
              </a:lnSpc>
            </a:pPr>
            <a:r>
              <a:rPr lang="en-US" sz="1400" dirty="0">
                <a:latin typeface="Noto Serif Ethiopic"/>
                <a:sym typeface="Noto Serif Ethiopic"/>
              </a:rPr>
              <a:t>We already had a simple version of the relationship between concentration and time</a:t>
            </a:r>
          </a:p>
          <a:p>
            <a:pPr marL="342900" indent="-342900" algn="l">
              <a:lnSpc>
                <a:spcPct val="150000"/>
              </a:lnSpc>
            </a:pPr>
            <a:r>
              <a:rPr lang="en-US" sz="1400" dirty="0">
                <a:latin typeface="Noto Serif Ethiopic"/>
                <a:sym typeface="Noto Serif Ethiopic"/>
              </a:rPr>
              <a:t>What if we have a variable that </a:t>
            </a:r>
            <a:r>
              <a:rPr lang="en-US" sz="1400" b="1" dirty="0">
                <a:latin typeface="Noto Serif Ethiopic"/>
                <a:sym typeface="Noto Serif Ethiopic"/>
              </a:rPr>
              <a:t>splits data into different groups</a:t>
            </a:r>
            <a:r>
              <a:rPr lang="en-US" sz="1400" dirty="0">
                <a:latin typeface="Noto Serif Ethiopic"/>
                <a:sym typeface="Noto Serif Ethiopic"/>
              </a:rPr>
              <a:t>? </a:t>
            </a:r>
          </a:p>
          <a:p>
            <a:pPr marL="342900" indent="-342900" algn="l">
              <a:lnSpc>
                <a:spcPct val="150000"/>
              </a:lnSpc>
            </a:pPr>
            <a:r>
              <a:rPr lang="en-US" sz="1400" dirty="0">
                <a:latin typeface="Noto Serif Ethiopic"/>
                <a:sym typeface="Noto Serif Ethiopic"/>
              </a:rPr>
              <a:t>Can we represent those groups with </a:t>
            </a:r>
            <a:r>
              <a:rPr lang="en-US" sz="1400" b="1" dirty="0">
                <a:latin typeface="Noto Serif Ethiopic"/>
                <a:sym typeface="Noto Serif Ethiopic"/>
              </a:rPr>
              <a:t>different colors</a:t>
            </a:r>
            <a:r>
              <a:rPr lang="en-US" sz="1400" dirty="0">
                <a:latin typeface="Noto Serif Ethiopic"/>
                <a:sym typeface="Noto Serif Ethiopic"/>
              </a:rPr>
              <a:t> on the current graph?</a:t>
            </a:r>
            <a:endParaRPr lang="en-US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sz="1400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sz="1400" dirty="0">
              <a:latin typeface="Noto Serif Ethiopic"/>
              <a:sym typeface="Noto Serif Ethiopic"/>
            </a:endParaRPr>
          </a:p>
        </p:txBody>
      </p:sp>
      <p:sp>
        <p:nvSpPr>
          <p:cNvPr id="19" name="Google Shape;472;p48">
            <a:extLst>
              <a:ext uri="{FF2B5EF4-FFF2-40B4-BE49-F238E27FC236}">
                <a16:creationId xmlns:a16="http://schemas.microsoft.com/office/drawing/2014/main" id="{8392C0E0-52C6-E264-8A1A-C4455FC82452}"/>
              </a:ext>
            </a:extLst>
          </p:cNvPr>
          <p:cNvSpPr txBox="1">
            <a:spLocks/>
          </p:cNvSpPr>
          <p:nvPr/>
        </p:nvSpPr>
        <p:spPr>
          <a:xfrm>
            <a:off x="720000" y="419233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oto Serif Ethiopic"/>
              <a:buNone/>
              <a:defRPr sz="3500" b="0" i="0" u="none" strike="noStrike" cap="none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b="1" dirty="0"/>
              <a:t>Yes, we can use grouping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Special Case of “Grouping”</a:t>
            </a:r>
            <a:endParaRPr b="1" dirty="0"/>
          </a:p>
        </p:txBody>
      </p:sp>
      <p:sp>
        <p:nvSpPr>
          <p:cNvPr id="18" name="Google Shape;445;p45">
            <a:extLst>
              <a:ext uri="{FF2B5EF4-FFF2-40B4-BE49-F238E27FC236}">
                <a16:creationId xmlns:a16="http://schemas.microsoft.com/office/drawing/2014/main" id="{0AF3A9C4-538C-25BE-7D71-A6E2750115C9}"/>
              </a:ext>
            </a:extLst>
          </p:cNvPr>
          <p:cNvSpPr txBox="1">
            <a:spLocks/>
          </p:cNvSpPr>
          <p:nvPr/>
        </p:nvSpPr>
        <p:spPr>
          <a:xfrm>
            <a:off x="799916" y="1251631"/>
            <a:ext cx="3772084" cy="3237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342900" indent="-342900" algn="l">
              <a:lnSpc>
                <a:spcPct val="150000"/>
              </a:lnSpc>
            </a:pPr>
            <a:r>
              <a:rPr lang="en-US" sz="1400" b="1" dirty="0">
                <a:latin typeface="Noto Serif Ethiopic"/>
                <a:sym typeface="Noto Serif Ethiopic"/>
              </a:rPr>
              <a:t>What’s wrong with this plot?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Line jump between different subjects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It connects points that shouldn’t be connected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The path is meaningless and chaotic</a:t>
            </a:r>
            <a:endParaRPr lang="en-US" sz="1400" b="1" dirty="0">
              <a:latin typeface="Noto Serif Ethiopic"/>
              <a:sym typeface="Noto Serif Ethiopic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en-US" sz="1400" b="1" dirty="0">
                <a:latin typeface="Noto Serif Ethiopic"/>
                <a:sym typeface="Noto Serif Ethiopic"/>
              </a:rPr>
              <a:t>What should we do instead?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Special grouping in </a:t>
            </a:r>
            <a:r>
              <a:rPr lang="en-US" dirty="0" err="1">
                <a:latin typeface="Noto Serif Ethiopic"/>
                <a:sym typeface="Noto Serif Ethiopic"/>
              </a:rPr>
              <a:t>ggplot</a:t>
            </a:r>
            <a:endParaRPr lang="en-US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Group by subject/ID</a:t>
            </a:r>
          </a:p>
          <a:p>
            <a:pPr marL="800100" lvl="1" indent="-342900">
              <a:lnSpc>
                <a:spcPct val="150000"/>
              </a:lnSpc>
            </a:pPr>
            <a:endParaRPr lang="en-US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sz="1400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sz="1400" dirty="0">
              <a:latin typeface="Noto Serif Ethiopic"/>
              <a:sym typeface="Noto Serif Ethiopic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FCB22D1-89DF-03EF-01D8-4837337DF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056" y="1313978"/>
            <a:ext cx="4145949" cy="30776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4EB2C34-8ED9-3FE6-9587-B19361F51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366" y="1715312"/>
            <a:ext cx="2206449" cy="28644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>
          <a:extLst>
            <a:ext uri="{FF2B5EF4-FFF2-40B4-BE49-F238E27FC236}">
              <a16:creationId xmlns:a16="http://schemas.microsoft.com/office/drawing/2014/main" id="{9AB704C5-A8E3-1C96-E9B7-93065C8A7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0">
            <a:extLst>
              <a:ext uri="{FF2B5EF4-FFF2-40B4-BE49-F238E27FC236}">
                <a16:creationId xmlns:a16="http://schemas.microsoft.com/office/drawing/2014/main" id="{64D9E094-CB42-2F0C-8997-C15AA669C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Growth curves (Spaghetti plots)</a:t>
            </a:r>
            <a:endParaRPr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89F8EB-F8CA-AF5C-26E8-9A72D5298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246" y="1347286"/>
            <a:ext cx="4248778" cy="3186584"/>
          </a:xfrm>
          <a:prstGeom prst="rect">
            <a:avLst/>
          </a:prstGeom>
        </p:spPr>
      </p:pic>
      <p:sp>
        <p:nvSpPr>
          <p:cNvPr id="3" name="Google Shape;445;p45">
            <a:extLst>
              <a:ext uri="{FF2B5EF4-FFF2-40B4-BE49-F238E27FC236}">
                <a16:creationId xmlns:a16="http://schemas.microsoft.com/office/drawing/2014/main" id="{2EA41DD2-093F-5565-B600-12397C2C9360}"/>
              </a:ext>
            </a:extLst>
          </p:cNvPr>
          <p:cNvSpPr txBox="1">
            <a:spLocks/>
          </p:cNvSpPr>
          <p:nvPr/>
        </p:nvSpPr>
        <p:spPr>
          <a:xfrm>
            <a:off x="5195456" y="1989775"/>
            <a:ext cx="3776240" cy="1776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342900" indent="-342900" algn="l">
              <a:lnSpc>
                <a:spcPct val="150000"/>
              </a:lnSpc>
            </a:pPr>
            <a:r>
              <a:rPr lang="en-US" sz="1400" dirty="0">
                <a:latin typeface="Noto Serif Ethiopic"/>
                <a:sym typeface="Noto Serif Ethiopic"/>
              </a:rPr>
              <a:t>Each line represents a subject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We have 12 subjects so there are 12 lines</a:t>
            </a:r>
          </a:p>
          <a:p>
            <a:pPr marL="342900" indent="-342900" algn="l">
              <a:lnSpc>
                <a:spcPct val="150000"/>
              </a:lnSpc>
            </a:pPr>
            <a:r>
              <a:rPr lang="en-US" sz="1400" dirty="0">
                <a:latin typeface="Noto Serif Ethiopic"/>
                <a:sym typeface="Noto Serif Ethiopic"/>
              </a:rPr>
              <a:t>More appropriate to track every subject’s trending</a:t>
            </a:r>
          </a:p>
          <a:p>
            <a:pPr marL="800100" lvl="1" indent="-342900">
              <a:lnSpc>
                <a:spcPct val="150000"/>
              </a:lnSpc>
            </a:pPr>
            <a:endParaRPr lang="en-US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sz="1400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sz="1400" dirty="0">
              <a:latin typeface="Noto Serif Ethiopic"/>
              <a:sym typeface="Noto Serif Ethiopic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E16741-EFE9-E8D9-BDCB-7150104EA2DC}"/>
              </a:ext>
            </a:extLst>
          </p:cNvPr>
          <p:cNvSpPr/>
          <p:nvPr/>
        </p:nvSpPr>
        <p:spPr>
          <a:xfrm>
            <a:off x="2556164" y="1454727"/>
            <a:ext cx="775854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1"/>
          <p:cNvSpPr txBox="1">
            <a:spLocks noGrp="1"/>
          </p:cNvSpPr>
          <p:nvPr>
            <p:ph type="title"/>
          </p:nvPr>
        </p:nvSpPr>
        <p:spPr>
          <a:xfrm>
            <a:off x="720000" y="8885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Summary</a:t>
            </a:r>
            <a:endParaRPr b="1" dirty="0"/>
          </a:p>
        </p:txBody>
      </p:sp>
      <p:sp>
        <p:nvSpPr>
          <p:cNvPr id="26" name="Google Shape;445;p45">
            <a:extLst>
              <a:ext uri="{FF2B5EF4-FFF2-40B4-BE49-F238E27FC236}">
                <a16:creationId xmlns:a16="http://schemas.microsoft.com/office/drawing/2014/main" id="{DF41EE72-3080-D69E-896D-249830C99EF1}"/>
              </a:ext>
            </a:extLst>
          </p:cNvPr>
          <p:cNvSpPr txBox="1">
            <a:spLocks/>
          </p:cNvSpPr>
          <p:nvPr/>
        </p:nvSpPr>
        <p:spPr>
          <a:xfrm>
            <a:off x="471056" y="661553"/>
            <a:ext cx="8042562" cy="4242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342900" indent="-342900" algn="l">
              <a:lnSpc>
                <a:spcPct val="100000"/>
              </a:lnSpc>
            </a:pPr>
            <a:r>
              <a:rPr lang="en-US" dirty="0" err="1">
                <a:latin typeface="Noto Serif Ethiopic"/>
                <a:sym typeface="Noto Serif Ethiopic"/>
              </a:rPr>
              <a:t>ggplot</a:t>
            </a:r>
            <a:r>
              <a:rPr lang="en-US" dirty="0">
                <a:latin typeface="Noto Serif Ethiopic"/>
                <a:sym typeface="Noto Serif Ethiopic"/>
              </a:rPr>
              <a:t>()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100" dirty="0">
                <a:latin typeface="Noto Serif Ethiopic"/>
                <a:sym typeface="Noto Serif Ethiopic"/>
              </a:rPr>
              <a:t>Foundation of building a graph in </a:t>
            </a:r>
            <a:r>
              <a:rPr lang="en-US" sz="1100" dirty="0" err="1">
                <a:latin typeface="Noto Serif Ethiopic"/>
                <a:sym typeface="Noto Serif Ethiopic"/>
              </a:rPr>
              <a:t>ggplot</a:t>
            </a:r>
            <a:endParaRPr lang="en-US" sz="1100" dirty="0">
              <a:latin typeface="Noto Serif Ethiopic"/>
              <a:sym typeface="Noto Serif Ethiopic"/>
            </a:endParaRPr>
          </a:p>
          <a:p>
            <a:pPr marL="342900" indent="-342900" algn="l">
              <a:lnSpc>
                <a:spcPct val="100000"/>
              </a:lnSpc>
            </a:pPr>
            <a:r>
              <a:rPr lang="en-US" dirty="0" err="1">
                <a:latin typeface="Noto Serif Ethiopic"/>
                <a:sym typeface="Noto Serif Ethiopic"/>
              </a:rPr>
              <a:t>gemo</a:t>
            </a:r>
            <a:r>
              <a:rPr lang="en-US" dirty="0">
                <a:latin typeface="Noto Serif Ethiopic"/>
                <a:sym typeface="Noto Serif Ethiopic"/>
              </a:rPr>
              <a:t>_*()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100" dirty="0">
                <a:latin typeface="Noto Serif Ethiopic"/>
                <a:sym typeface="Noto Serif Ethiopic"/>
              </a:rPr>
              <a:t>define the geometric objects that can be placed on a graph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100" dirty="0">
                <a:latin typeface="Noto Serif Ethiopic"/>
                <a:sym typeface="Noto Serif Ethiopic"/>
              </a:rPr>
              <a:t>Can adjust color, size, and transparency</a:t>
            </a:r>
            <a:endParaRPr lang="en-US" dirty="0">
              <a:latin typeface="Noto Serif Ethiopic"/>
              <a:sym typeface="Noto Serif Ethiopic"/>
            </a:endParaRPr>
          </a:p>
          <a:p>
            <a:pPr marL="342900" indent="-342900" algn="l">
              <a:lnSpc>
                <a:spcPct val="100000"/>
              </a:lnSpc>
            </a:pPr>
            <a:r>
              <a:rPr lang="en-US" dirty="0" err="1">
                <a:latin typeface="Noto Serif Ethiopic"/>
                <a:sym typeface="Noto Serif Ethiopic"/>
              </a:rPr>
              <a:t>geom_smooth</a:t>
            </a:r>
            <a:r>
              <a:rPr lang="en-US" dirty="0">
                <a:latin typeface="Noto Serif Ethiopic"/>
                <a:sym typeface="Noto Serif Ethiopic"/>
              </a:rPr>
              <a:t>()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100" dirty="0">
                <a:latin typeface="Noto Serif Ethiopic"/>
                <a:sym typeface="Noto Serif Ethiopic"/>
              </a:rPr>
              <a:t>Fit a line that best fits the graph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100" dirty="0">
                <a:latin typeface="Noto Serif Ethiopic"/>
                <a:sym typeface="Noto Serif Ethiopic"/>
              </a:rPr>
              <a:t>Can adject for line types, thickness, color, and confidence band</a:t>
            </a:r>
          </a:p>
          <a:p>
            <a:pPr marL="342900" indent="-342900" algn="l">
              <a:lnSpc>
                <a:spcPct val="100000"/>
              </a:lnSpc>
            </a:pPr>
            <a:r>
              <a:rPr lang="en-US" dirty="0">
                <a:latin typeface="Noto Serif Ethiopic"/>
                <a:sym typeface="Noto Serif Ethiopic"/>
              </a:rPr>
              <a:t>labs()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100" dirty="0">
                <a:latin typeface="Noto Serif Ethiopic"/>
                <a:sym typeface="Noto Serif Ethiopic"/>
              </a:rPr>
              <a:t>Provides customized labels for axes and legends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100" dirty="0">
                <a:latin typeface="Noto Serif Ethiopic"/>
                <a:sym typeface="Noto Serif Ethiopic"/>
              </a:rPr>
              <a:t>Usually finishes with </a:t>
            </a:r>
            <a:r>
              <a:rPr lang="en-US" sz="1100" dirty="0" err="1">
                <a:latin typeface="Noto Serif Ethiopic"/>
                <a:sym typeface="Noto Serif Ethiopic"/>
              </a:rPr>
              <a:t>theme_minimal</a:t>
            </a:r>
            <a:r>
              <a:rPr lang="en-US" sz="1100" dirty="0">
                <a:latin typeface="Noto Serif Ethiopic"/>
                <a:sym typeface="Noto Serif Ethiopic"/>
              </a:rPr>
              <a:t>()</a:t>
            </a:r>
            <a:endParaRPr lang="en-US" dirty="0">
              <a:latin typeface="Noto Serif Ethiopic"/>
              <a:sym typeface="Noto Serif Ethiopic"/>
            </a:endParaRPr>
          </a:p>
          <a:p>
            <a:pPr marL="342900" indent="-342900" algn="l">
              <a:lnSpc>
                <a:spcPct val="100000"/>
              </a:lnSpc>
            </a:pPr>
            <a:r>
              <a:rPr lang="en-US" dirty="0">
                <a:latin typeface="Noto Serif Ethiopic"/>
                <a:sym typeface="Noto Serif Ethiopic"/>
              </a:rPr>
              <a:t>theme_*()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100" dirty="0">
                <a:latin typeface="Noto Serif Ethiopic"/>
                <a:sym typeface="Noto Serif Ethiopic"/>
              </a:rPr>
              <a:t>Choose different themes to finish up the plot</a:t>
            </a:r>
          </a:p>
          <a:p>
            <a:pPr marL="342900" indent="-342900" algn="l">
              <a:lnSpc>
                <a:spcPct val="100000"/>
              </a:lnSpc>
            </a:pPr>
            <a:r>
              <a:rPr lang="en-US" dirty="0">
                <a:latin typeface="Noto Serif Ethiopic"/>
                <a:sym typeface="Noto Serif Ethiopic"/>
              </a:rPr>
              <a:t>grouping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100" dirty="0">
                <a:latin typeface="Noto Serif Ethiopic"/>
                <a:sym typeface="Noto Serif Ethiopic"/>
              </a:rPr>
              <a:t>define the grouping variable by setting (group = ) in the </a:t>
            </a:r>
            <a:r>
              <a:rPr lang="en-US" sz="1100" dirty="0" err="1">
                <a:latin typeface="Noto Serif Ethiopic"/>
                <a:sym typeface="Noto Serif Ethiopic"/>
              </a:rPr>
              <a:t>ggplot</a:t>
            </a:r>
            <a:r>
              <a:rPr lang="en-US" sz="1100" dirty="0">
                <a:latin typeface="Noto Serif Ethiopic"/>
                <a:sym typeface="Noto Serif Ethiopic"/>
              </a:rPr>
              <a:t>() function</a:t>
            </a:r>
          </a:p>
          <a:p>
            <a:pPr marL="342900" indent="-342900" algn="l">
              <a:lnSpc>
                <a:spcPct val="100000"/>
              </a:lnSpc>
            </a:pPr>
            <a:r>
              <a:rPr lang="en-US" dirty="0">
                <a:latin typeface="Noto Serif Ethiopic"/>
                <a:sym typeface="Noto Serif Ethiopic"/>
              </a:rPr>
              <a:t>facets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100" dirty="0" err="1">
                <a:latin typeface="Noto Serif Ethiopic"/>
                <a:sym typeface="Noto Serif Ethiopic"/>
              </a:rPr>
              <a:t>facet_wrap</a:t>
            </a:r>
            <a:r>
              <a:rPr lang="en-US" sz="1100" dirty="0">
                <a:latin typeface="Noto Serif Ethiopic"/>
                <a:sym typeface="Noto Serif Ethiopic"/>
              </a:rPr>
              <a:t> </a:t>
            </a:r>
          </a:p>
          <a:p>
            <a:pPr marL="1257300" lvl="2" indent="-342900">
              <a:lnSpc>
                <a:spcPct val="100000"/>
              </a:lnSpc>
            </a:pPr>
            <a:r>
              <a:rPr lang="en-US" sz="1050" dirty="0">
                <a:latin typeface="Noto Serif Ethiopic"/>
                <a:sym typeface="Noto Serif Ethiopic"/>
              </a:rPr>
              <a:t>Take one variable</a:t>
            </a:r>
          </a:p>
          <a:p>
            <a:pPr marL="1257300" lvl="2" indent="-342900">
              <a:lnSpc>
                <a:spcPct val="100000"/>
              </a:lnSpc>
            </a:pPr>
            <a:r>
              <a:rPr lang="en-US" sz="1050" dirty="0">
                <a:latin typeface="Noto Serif Ethiopic"/>
                <a:sym typeface="Noto Serif Ethiopic"/>
              </a:rPr>
              <a:t>break plots into panels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100" dirty="0" err="1">
                <a:latin typeface="Noto Serif Ethiopic"/>
                <a:sym typeface="Noto Serif Ethiopic"/>
              </a:rPr>
              <a:t>facet_grid</a:t>
            </a:r>
            <a:endParaRPr lang="en-US" sz="1100" dirty="0">
              <a:latin typeface="Noto Serif Ethiopic"/>
              <a:sym typeface="Noto Serif Ethiopic"/>
            </a:endParaRPr>
          </a:p>
          <a:p>
            <a:pPr marL="1257300" lvl="2" indent="-342900">
              <a:lnSpc>
                <a:spcPct val="100000"/>
              </a:lnSpc>
            </a:pPr>
            <a:r>
              <a:rPr lang="en-US" sz="1050" dirty="0">
                <a:latin typeface="Noto Serif Ethiopic"/>
                <a:sym typeface="Noto Serif Ethiopic"/>
              </a:rPr>
              <a:t>takes two variables</a:t>
            </a:r>
          </a:p>
          <a:p>
            <a:pPr marL="1257300" lvl="2" indent="-342900">
              <a:lnSpc>
                <a:spcPct val="100000"/>
              </a:lnSpc>
            </a:pPr>
            <a:r>
              <a:rPr lang="en-US" sz="1050" dirty="0">
                <a:latin typeface="Noto Serif Ethiopic"/>
                <a:sym typeface="Noto Serif Ethiopic"/>
              </a:rPr>
              <a:t>one as column and one as row</a:t>
            </a:r>
          </a:p>
          <a:p>
            <a:pPr marL="342900" indent="-342900" algn="l">
              <a:lnSpc>
                <a:spcPct val="100000"/>
              </a:lnSpc>
            </a:pPr>
            <a:r>
              <a:rPr lang="en-US" dirty="0">
                <a:latin typeface="Noto Serif Ethiopic"/>
                <a:sym typeface="Noto Serif Ethiopic"/>
              </a:rPr>
              <a:t>scales 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100" dirty="0">
                <a:latin typeface="Noto Serif Ethiopic"/>
                <a:sym typeface="Noto Serif Ethiopic"/>
              </a:rPr>
              <a:t>use </a:t>
            </a:r>
            <a:r>
              <a:rPr lang="en-US" sz="1100" dirty="0" err="1">
                <a:latin typeface="Noto Serif Ethiopic"/>
                <a:sym typeface="Noto Serif Ethiopic"/>
              </a:rPr>
              <a:t>scale_x_continuous</a:t>
            </a:r>
            <a:r>
              <a:rPr lang="en-US" sz="1100" dirty="0">
                <a:latin typeface="Noto Serif Ethiopic"/>
                <a:sym typeface="Noto Serif Ethiopic"/>
              </a:rPr>
              <a:t>() or </a:t>
            </a:r>
            <a:r>
              <a:rPr lang="en-US" sz="1100" dirty="0" err="1">
                <a:latin typeface="Noto Serif Ethiopic"/>
                <a:sym typeface="Noto Serif Ethiopic"/>
              </a:rPr>
              <a:t>scale_y_continuous</a:t>
            </a:r>
            <a:r>
              <a:rPr lang="en-US" sz="1100" dirty="0">
                <a:latin typeface="Noto Serif Ethiopic"/>
                <a:sym typeface="Noto Serif Ethiopic"/>
              </a:rPr>
              <a:t>()</a:t>
            </a:r>
          </a:p>
          <a:p>
            <a:pPr marL="800100" lvl="1" indent="-342900">
              <a:lnSpc>
                <a:spcPct val="100000"/>
              </a:lnSpc>
            </a:pPr>
            <a:endParaRPr lang="en-US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00000"/>
              </a:lnSpc>
            </a:pPr>
            <a:endParaRPr lang="en-US" dirty="0">
              <a:latin typeface="Noto Serif Ethiopic"/>
              <a:sym typeface="Noto Serif Ethiopic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1D7299-A4FA-C9C8-D8A4-DF2948A85154}"/>
              </a:ext>
            </a:extLst>
          </p:cNvPr>
          <p:cNvSpPr txBox="1"/>
          <p:nvPr/>
        </p:nvSpPr>
        <p:spPr>
          <a:xfrm>
            <a:off x="4837471" y="4793673"/>
            <a:ext cx="42095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3"/>
              </a:rPr>
              <a:t>ggplot2 reference website: </a:t>
            </a:r>
            <a:r>
              <a:rPr lang="en-US" sz="900" dirty="0">
                <a:hlinkClick r:id="rId3"/>
              </a:rPr>
              <a:t>https://ggplot2.tidyverse.org/reference/index.html</a:t>
            </a:r>
            <a:r>
              <a:rPr lang="en-US" sz="9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>
          <a:extLst>
            <a:ext uri="{FF2B5EF4-FFF2-40B4-BE49-F238E27FC236}">
              <a16:creationId xmlns:a16="http://schemas.microsoft.com/office/drawing/2014/main" id="{7AE304C4-9B9E-DE2C-AF06-4FB52F36D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0">
            <a:extLst>
              <a:ext uri="{FF2B5EF4-FFF2-40B4-BE49-F238E27FC236}">
                <a16:creationId xmlns:a16="http://schemas.microsoft.com/office/drawing/2014/main" id="{CCCE5430-67ED-B010-E0D2-16FA1FF5F2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2895" y="35876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Categorical &amp; Quantitative Data</a:t>
            </a:r>
            <a:endParaRPr sz="3200" b="1" dirty="0"/>
          </a:p>
        </p:txBody>
      </p:sp>
      <p:sp>
        <p:nvSpPr>
          <p:cNvPr id="5" name="Google Shape;445;p45">
            <a:extLst>
              <a:ext uri="{FF2B5EF4-FFF2-40B4-BE49-F238E27FC236}">
                <a16:creationId xmlns:a16="http://schemas.microsoft.com/office/drawing/2014/main" id="{F01F4E31-D62D-DBE7-5979-8FB4E8628733}"/>
              </a:ext>
            </a:extLst>
          </p:cNvPr>
          <p:cNvSpPr txBox="1">
            <a:spLocks/>
          </p:cNvSpPr>
          <p:nvPr/>
        </p:nvSpPr>
        <p:spPr>
          <a:xfrm>
            <a:off x="878130" y="1133585"/>
            <a:ext cx="2552589" cy="255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342900" indent="-342900" algn="l">
              <a:lnSpc>
                <a:spcPct val="150000"/>
              </a:lnSpc>
            </a:pPr>
            <a:r>
              <a:rPr lang="en-US" sz="1600" b="1" dirty="0">
                <a:latin typeface="Noto Serif Ethiopic"/>
                <a:sym typeface="Noto Serif Ethiopic"/>
              </a:rPr>
              <a:t>Univariate Graphs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sz="1400" b="1" dirty="0">
                <a:latin typeface="Noto Serif Ethiopic"/>
                <a:sym typeface="Noto Serif Ethiopic"/>
              </a:rPr>
              <a:t>Categorical</a:t>
            </a:r>
          </a:p>
          <a:p>
            <a:pPr marL="1257300" lvl="2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Bar chart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sz="1400" b="1" dirty="0">
                <a:latin typeface="Noto Serif Ethiopic"/>
                <a:sym typeface="Noto Serif Ethiopic"/>
              </a:rPr>
              <a:t>Quantitative</a:t>
            </a:r>
          </a:p>
          <a:p>
            <a:pPr marL="1257300" lvl="2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Histogram</a:t>
            </a:r>
          </a:p>
          <a:p>
            <a:pPr marL="1257300" lvl="2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Density plot</a:t>
            </a:r>
          </a:p>
        </p:txBody>
      </p:sp>
      <p:sp>
        <p:nvSpPr>
          <p:cNvPr id="6" name="Google Shape;445;p45">
            <a:extLst>
              <a:ext uri="{FF2B5EF4-FFF2-40B4-BE49-F238E27FC236}">
                <a16:creationId xmlns:a16="http://schemas.microsoft.com/office/drawing/2014/main" id="{9503FB2E-5B6A-C514-5E87-2FD92E00AC7A}"/>
              </a:ext>
            </a:extLst>
          </p:cNvPr>
          <p:cNvSpPr txBox="1">
            <a:spLocks/>
          </p:cNvSpPr>
          <p:nvPr/>
        </p:nvSpPr>
        <p:spPr>
          <a:xfrm>
            <a:off x="4303868" y="1071709"/>
            <a:ext cx="4482623" cy="3493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342900" indent="-342900" algn="l">
              <a:lnSpc>
                <a:spcPct val="150000"/>
              </a:lnSpc>
            </a:pPr>
            <a:r>
              <a:rPr lang="en-US" sz="1600" b="1" dirty="0">
                <a:latin typeface="Noto Serif Ethiopic"/>
                <a:sym typeface="Noto Serif Ethiopic"/>
              </a:rPr>
              <a:t>Bivariate Graphs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sz="1400" b="1" dirty="0">
                <a:latin typeface="Noto Serif Ethiopic"/>
                <a:sym typeface="Noto Serif Ethiopic"/>
              </a:rPr>
              <a:t>Categorical vs. Categorical</a:t>
            </a:r>
          </a:p>
          <a:p>
            <a:pPr marL="1257300" lvl="2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Stacked Bar chart</a:t>
            </a:r>
          </a:p>
          <a:p>
            <a:pPr marL="1257300" lvl="2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Grouped Bar chart</a:t>
            </a:r>
          </a:p>
          <a:p>
            <a:pPr marL="1257300" lvl="2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Segmented Bar Chart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sz="1400" b="1" dirty="0">
                <a:latin typeface="Noto Serif Ethiopic"/>
                <a:sym typeface="Noto Serif Ethiopic"/>
              </a:rPr>
              <a:t>Quantitative vs. Quantitative</a:t>
            </a:r>
          </a:p>
          <a:p>
            <a:pPr marL="1257300" lvl="2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Scatter plot</a:t>
            </a:r>
          </a:p>
          <a:p>
            <a:pPr marL="1257300" lvl="2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Line plot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sz="1400" b="1" dirty="0">
                <a:latin typeface="Noto Serif Ethiopic"/>
                <a:sym typeface="Noto Serif Ethiopic"/>
              </a:rPr>
              <a:t>Categorical vs. Quantitative</a:t>
            </a:r>
          </a:p>
          <a:p>
            <a:pPr marL="1257300" lvl="2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Box plot</a:t>
            </a:r>
          </a:p>
          <a:p>
            <a:pPr marL="1257300" lvl="2" indent="-342900">
              <a:lnSpc>
                <a:spcPct val="150000"/>
              </a:lnSpc>
            </a:pPr>
            <a:r>
              <a:rPr lang="en-US" dirty="0">
                <a:latin typeface="Noto Serif Ethiopic"/>
                <a:sym typeface="Noto Serif Ethiopic"/>
              </a:rPr>
              <a:t>Violin plots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en-US" sz="1400" dirty="0">
              <a:latin typeface="Noto Serif Ethiopic"/>
              <a:sym typeface="Noto Serif Ethiopic"/>
            </a:endParaRPr>
          </a:p>
        </p:txBody>
      </p:sp>
    </p:spTree>
    <p:extLst>
      <p:ext uri="{BB962C8B-B14F-4D97-AF65-F5344CB8AC3E}">
        <p14:creationId xmlns:p14="http://schemas.microsoft.com/office/powerpoint/2010/main" val="1663753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>
          <a:extLst>
            <a:ext uri="{FF2B5EF4-FFF2-40B4-BE49-F238E27FC236}">
              <a16:creationId xmlns:a16="http://schemas.microsoft.com/office/drawing/2014/main" id="{8708F3EC-CCAA-AB28-82BA-22A9C2AEB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0">
            <a:extLst>
              <a:ext uri="{FF2B5EF4-FFF2-40B4-BE49-F238E27FC236}">
                <a16:creationId xmlns:a16="http://schemas.microsoft.com/office/drawing/2014/main" id="{1B7558F1-DB94-7CEC-919B-F21C860C06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264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Explore on your own!</a:t>
            </a:r>
            <a:endParaRPr sz="3200" b="1" dirty="0"/>
          </a:p>
        </p:txBody>
      </p:sp>
      <p:sp>
        <p:nvSpPr>
          <p:cNvPr id="5" name="Google Shape;445;p45">
            <a:extLst>
              <a:ext uri="{FF2B5EF4-FFF2-40B4-BE49-F238E27FC236}">
                <a16:creationId xmlns:a16="http://schemas.microsoft.com/office/drawing/2014/main" id="{C03657D7-6F53-CABE-E376-D2692FEB107E}"/>
              </a:ext>
            </a:extLst>
          </p:cNvPr>
          <p:cNvSpPr txBox="1">
            <a:spLocks/>
          </p:cNvSpPr>
          <p:nvPr/>
        </p:nvSpPr>
        <p:spPr>
          <a:xfrm>
            <a:off x="664999" y="1230677"/>
            <a:ext cx="4525768" cy="318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342900" indent="-342900" algn="l">
              <a:lnSpc>
                <a:spcPct val="200000"/>
              </a:lnSpc>
            </a:pPr>
            <a:r>
              <a:rPr lang="en-US" sz="1400" b="1" dirty="0">
                <a:latin typeface="Noto Serif Ethiopic"/>
                <a:sym typeface="Noto Serif Ethiopic"/>
              </a:rPr>
              <a:t>Categorical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dirty="0">
                <a:latin typeface="Noto Serif Ethiopic"/>
                <a:sym typeface="Noto Serif Ethiopic"/>
              </a:rPr>
              <a:t>Plot the distribution of race using bar plot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dirty="0">
                <a:latin typeface="Noto Serif Ethiopic"/>
                <a:sym typeface="Noto Serif Ethiopic"/>
              </a:rPr>
              <a:t>Use ?</a:t>
            </a:r>
            <a:r>
              <a:rPr lang="en-US" dirty="0" err="1">
                <a:latin typeface="Noto Serif Ethiopic"/>
                <a:sym typeface="Noto Serif Ethiopic"/>
              </a:rPr>
              <a:t>geom_bar</a:t>
            </a:r>
            <a:r>
              <a:rPr lang="en-US" dirty="0">
                <a:latin typeface="Noto Serif Ethiopic"/>
                <a:sym typeface="Noto Serif Ethiopic"/>
              </a:rPr>
              <a:t>() to see the options we can tune for the graph</a:t>
            </a:r>
          </a:p>
          <a:p>
            <a:pPr marL="1257300" lvl="2" indent="-342900">
              <a:lnSpc>
                <a:spcPct val="200000"/>
              </a:lnSpc>
            </a:pPr>
            <a:r>
              <a:rPr lang="en-US" dirty="0">
                <a:latin typeface="Noto Serif Ethiopic"/>
                <a:sym typeface="Noto Serif Ethiopic"/>
              </a:rPr>
              <a:t>Set the fill as "</a:t>
            </a:r>
            <a:r>
              <a:rPr lang="en-US" dirty="0" err="1">
                <a:latin typeface="Noto Serif Ethiopic"/>
                <a:sym typeface="Noto Serif Ethiopic"/>
              </a:rPr>
              <a:t>cornflowerblue</a:t>
            </a:r>
            <a:r>
              <a:rPr lang="en-US" dirty="0">
                <a:latin typeface="Noto Serif Ethiopic"/>
                <a:sym typeface="Noto Serif Ethiopic"/>
              </a:rPr>
              <a:t>" </a:t>
            </a:r>
          </a:p>
          <a:p>
            <a:pPr marL="1257300" lvl="2" indent="-342900">
              <a:lnSpc>
                <a:spcPct val="200000"/>
              </a:lnSpc>
            </a:pPr>
            <a:r>
              <a:rPr lang="en-US" dirty="0">
                <a:latin typeface="Noto Serif Ethiopic"/>
                <a:sym typeface="Noto Serif Ethiopic"/>
              </a:rPr>
              <a:t>Set color as "black"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dirty="0">
                <a:latin typeface="Noto Serif Ethiopic"/>
                <a:sym typeface="Noto Serif Ethiopic"/>
              </a:rPr>
              <a:t>Add labels to the graph to match the final graph shown on the right</a:t>
            </a:r>
          </a:p>
          <a:p>
            <a:pPr marL="800100" lvl="1" indent="-342900">
              <a:lnSpc>
                <a:spcPct val="150000"/>
              </a:lnSpc>
            </a:pPr>
            <a:endParaRPr lang="en-US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dirty="0">
              <a:latin typeface="Noto Serif Ethiopic"/>
              <a:sym typeface="Noto Serif Ethiopic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5C5B9A-9EBB-977D-5CF1-B027EDDA9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767" y="1547666"/>
            <a:ext cx="3650725" cy="254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77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>
          <a:extLst>
            <a:ext uri="{FF2B5EF4-FFF2-40B4-BE49-F238E27FC236}">
              <a16:creationId xmlns:a16="http://schemas.microsoft.com/office/drawing/2014/main" id="{62A72227-BD3D-66C9-CBEF-8C9C84495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0">
            <a:extLst>
              <a:ext uri="{FF2B5EF4-FFF2-40B4-BE49-F238E27FC236}">
                <a16:creationId xmlns:a16="http://schemas.microsoft.com/office/drawing/2014/main" id="{FE97A6D8-6834-E202-9A19-40F6AA16AD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264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Explore on your own!</a:t>
            </a:r>
            <a:endParaRPr sz="3200" b="1" dirty="0"/>
          </a:p>
        </p:txBody>
      </p:sp>
      <p:sp>
        <p:nvSpPr>
          <p:cNvPr id="5" name="Google Shape;445;p45">
            <a:extLst>
              <a:ext uri="{FF2B5EF4-FFF2-40B4-BE49-F238E27FC236}">
                <a16:creationId xmlns:a16="http://schemas.microsoft.com/office/drawing/2014/main" id="{3F38815B-A019-60EB-969F-BABEFB15983B}"/>
              </a:ext>
            </a:extLst>
          </p:cNvPr>
          <p:cNvSpPr txBox="1">
            <a:spLocks/>
          </p:cNvSpPr>
          <p:nvPr/>
        </p:nvSpPr>
        <p:spPr>
          <a:xfrm>
            <a:off x="664999" y="1230677"/>
            <a:ext cx="4525768" cy="318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342900" indent="-342900" algn="l">
              <a:lnSpc>
                <a:spcPct val="200000"/>
              </a:lnSpc>
            </a:pPr>
            <a:r>
              <a:rPr lang="en-US" sz="1400" b="1" dirty="0">
                <a:latin typeface="Noto Serif Ethiopic"/>
                <a:sym typeface="Noto Serif Ethiopic"/>
              </a:rPr>
              <a:t>Quantitative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dirty="0">
                <a:latin typeface="Noto Serif Ethiopic"/>
                <a:sym typeface="Noto Serif Ethiopic"/>
              </a:rPr>
              <a:t>Plot the distribution of age using histogram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dirty="0">
                <a:latin typeface="Noto Serif Ethiopic"/>
                <a:sym typeface="Noto Serif Ethiopic"/>
              </a:rPr>
              <a:t>Use ?</a:t>
            </a:r>
            <a:r>
              <a:rPr lang="en-US" dirty="0" err="1">
                <a:latin typeface="Noto Serif Ethiopic"/>
                <a:sym typeface="Noto Serif Ethiopic"/>
              </a:rPr>
              <a:t>geom_bar</a:t>
            </a:r>
            <a:r>
              <a:rPr lang="en-US" dirty="0">
                <a:latin typeface="Noto Serif Ethiopic"/>
                <a:sym typeface="Noto Serif Ethiopic"/>
              </a:rPr>
              <a:t>() to see the options we can tune for the graph</a:t>
            </a:r>
          </a:p>
          <a:p>
            <a:pPr marL="1257300" lvl="2" indent="-342900">
              <a:lnSpc>
                <a:spcPct val="200000"/>
              </a:lnSpc>
            </a:pPr>
            <a:r>
              <a:rPr lang="en-US" dirty="0">
                <a:latin typeface="Noto Serif Ethiopic"/>
                <a:sym typeface="Noto Serif Ethiopic"/>
              </a:rPr>
              <a:t>Set the fill as "</a:t>
            </a:r>
            <a:r>
              <a:rPr lang="en-US" dirty="0" err="1">
                <a:latin typeface="Noto Serif Ethiopic"/>
                <a:sym typeface="Noto Serif Ethiopic"/>
              </a:rPr>
              <a:t>cornflowerblue</a:t>
            </a:r>
            <a:r>
              <a:rPr lang="en-US" dirty="0">
                <a:latin typeface="Noto Serif Ethiopic"/>
                <a:sym typeface="Noto Serif Ethiopic"/>
              </a:rPr>
              <a:t>" </a:t>
            </a:r>
          </a:p>
          <a:p>
            <a:pPr marL="1257300" lvl="2" indent="-342900">
              <a:lnSpc>
                <a:spcPct val="200000"/>
              </a:lnSpc>
            </a:pPr>
            <a:r>
              <a:rPr lang="en-US" dirty="0">
                <a:latin typeface="Noto Serif Ethiopic"/>
                <a:sym typeface="Noto Serif Ethiopic"/>
              </a:rPr>
              <a:t>Set color as ”white”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dirty="0">
                <a:latin typeface="Noto Serif Ethiopic"/>
                <a:sym typeface="Noto Serif Ethiopic"/>
              </a:rPr>
              <a:t>Add labels to the graph to match the final graph shown on the right</a:t>
            </a:r>
          </a:p>
          <a:p>
            <a:pPr marL="800100" lvl="1" indent="-342900">
              <a:lnSpc>
                <a:spcPct val="150000"/>
              </a:lnSpc>
            </a:pPr>
            <a:endParaRPr lang="en-US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dirty="0">
              <a:latin typeface="Noto Serif Ethiopic"/>
              <a:sym typeface="Noto Serif Ethiopic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862008-B2F0-56DE-6DBB-B52F6FFE7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767" y="1623549"/>
            <a:ext cx="3689899" cy="239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87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>
          <a:extLst>
            <a:ext uri="{FF2B5EF4-FFF2-40B4-BE49-F238E27FC236}">
              <a16:creationId xmlns:a16="http://schemas.microsoft.com/office/drawing/2014/main" id="{D1F74EBA-C3D7-0A55-FA28-31AFD8277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50">
            <a:extLst>
              <a:ext uri="{FF2B5EF4-FFF2-40B4-BE49-F238E27FC236}">
                <a16:creationId xmlns:a16="http://schemas.microsoft.com/office/drawing/2014/main" id="{D65CEB53-C10C-0BAB-643D-C207C8D0E6D6}"/>
              </a:ext>
            </a:extLst>
          </p:cNvPr>
          <p:cNvSpPr txBox="1">
            <a:spLocks/>
          </p:cNvSpPr>
          <p:nvPr/>
        </p:nvSpPr>
        <p:spPr>
          <a:xfrm>
            <a:off x="720000" y="32640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erif Ethiopic"/>
              <a:buNone/>
              <a:defRPr sz="2400" b="0" i="0" u="none" strike="noStrike" cap="none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en-US" sz="3200" b="1" dirty="0"/>
              <a:t>Summary of Static Visualization</a:t>
            </a:r>
          </a:p>
        </p:txBody>
      </p:sp>
      <p:sp>
        <p:nvSpPr>
          <p:cNvPr id="7" name="Google Shape;445;p45">
            <a:extLst>
              <a:ext uri="{FF2B5EF4-FFF2-40B4-BE49-F238E27FC236}">
                <a16:creationId xmlns:a16="http://schemas.microsoft.com/office/drawing/2014/main" id="{CC720E5F-64DE-9DE1-AC11-574A1B4C39FA}"/>
              </a:ext>
            </a:extLst>
          </p:cNvPr>
          <p:cNvSpPr txBox="1">
            <a:spLocks/>
          </p:cNvSpPr>
          <p:nvPr/>
        </p:nvSpPr>
        <p:spPr>
          <a:xfrm>
            <a:off x="664999" y="1230677"/>
            <a:ext cx="7338024" cy="318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342900" indent="-342900" algn="l">
              <a:lnSpc>
                <a:spcPct val="200000"/>
              </a:lnSpc>
            </a:pPr>
            <a:r>
              <a:rPr lang="en-US" sz="1600" b="1" dirty="0">
                <a:latin typeface="Noto Serif Ethiopic"/>
                <a:sym typeface="Noto Serif Ethiopic"/>
              </a:rPr>
              <a:t>Use </a:t>
            </a:r>
            <a:r>
              <a:rPr lang="en-US" sz="1600" b="1" dirty="0" err="1">
                <a:latin typeface="Noto Serif Ethiopic"/>
                <a:sym typeface="Noto Serif Ethiopic"/>
              </a:rPr>
              <a:t>ggplot</a:t>
            </a:r>
            <a:r>
              <a:rPr lang="en-US" sz="1600" b="1" dirty="0">
                <a:latin typeface="Noto Serif Ethiopic"/>
                <a:sym typeface="Noto Serif Ethiopic"/>
              </a:rPr>
              <a:t>() as foundation</a:t>
            </a:r>
          </a:p>
          <a:p>
            <a:pPr marL="342900" indent="-342900" algn="l">
              <a:lnSpc>
                <a:spcPct val="200000"/>
              </a:lnSpc>
            </a:pPr>
            <a:r>
              <a:rPr lang="en-US" sz="1600" b="1" dirty="0">
                <a:latin typeface="Noto Serif Ethiopic"/>
                <a:sym typeface="Noto Serif Ethiopic"/>
              </a:rPr>
              <a:t>change the plot type using </a:t>
            </a:r>
            <a:r>
              <a:rPr lang="en-US" sz="1600" b="1" dirty="0" err="1">
                <a:latin typeface="Noto Serif Ethiopic"/>
                <a:sym typeface="Noto Serif Ethiopic"/>
              </a:rPr>
              <a:t>geom</a:t>
            </a:r>
            <a:r>
              <a:rPr lang="en-US" sz="1600" b="1" dirty="0">
                <a:latin typeface="Noto Serif Ethiopic"/>
                <a:sym typeface="Noto Serif Ethiopic"/>
              </a:rPr>
              <a:t>_*()</a:t>
            </a:r>
          </a:p>
          <a:p>
            <a:pPr marL="342900" indent="-342900" algn="l">
              <a:lnSpc>
                <a:spcPct val="200000"/>
              </a:lnSpc>
            </a:pPr>
            <a:r>
              <a:rPr lang="en-US" sz="1600" b="1" dirty="0">
                <a:latin typeface="Noto Serif Ethiopic"/>
                <a:sym typeface="Noto Serif Ethiopic"/>
              </a:rPr>
              <a:t>Adjust your graphs with different options of colors, edges, and sizes</a:t>
            </a:r>
          </a:p>
          <a:p>
            <a:pPr marL="342900" indent="-342900" algn="l">
              <a:lnSpc>
                <a:spcPct val="200000"/>
              </a:lnSpc>
            </a:pPr>
            <a:r>
              <a:rPr lang="en-US" sz="1600" b="1" dirty="0">
                <a:latin typeface="Noto Serif Ethiopic"/>
                <a:sym typeface="Noto Serif Ethiopic"/>
              </a:rPr>
              <a:t>Always add clear labels and legends </a:t>
            </a:r>
          </a:p>
          <a:p>
            <a:pPr marL="342900" indent="-342900" algn="l">
              <a:lnSpc>
                <a:spcPct val="200000"/>
              </a:lnSpc>
            </a:pPr>
            <a:r>
              <a:rPr lang="en-US" sz="1600" b="1" dirty="0">
                <a:latin typeface="Noto Serif Ethiopic"/>
                <a:sym typeface="Noto Serif Ethiopic"/>
              </a:rPr>
              <a:t>If needed, use facet to make comparison plots</a:t>
            </a:r>
            <a:endParaRPr lang="en-US" sz="1400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sz="1400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sz="1400" dirty="0">
              <a:latin typeface="Noto Serif Ethiopic"/>
              <a:sym typeface="Noto Serif Ethiopic"/>
            </a:endParaRPr>
          </a:p>
        </p:txBody>
      </p:sp>
    </p:spTree>
    <p:extLst>
      <p:ext uri="{BB962C8B-B14F-4D97-AF65-F5344CB8AC3E}">
        <p14:creationId xmlns:p14="http://schemas.microsoft.com/office/powerpoint/2010/main" val="381020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2"/>
          <p:cNvSpPr txBox="1">
            <a:spLocks noGrp="1"/>
          </p:cNvSpPr>
          <p:nvPr>
            <p:ph type="title"/>
          </p:nvPr>
        </p:nvSpPr>
        <p:spPr>
          <a:xfrm>
            <a:off x="3854900" y="2450375"/>
            <a:ext cx="3733800" cy="14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Interactive Visualization</a:t>
            </a:r>
            <a:endParaRPr dirty="0"/>
          </a:p>
        </p:txBody>
      </p:sp>
      <p:sp>
        <p:nvSpPr>
          <p:cNvPr id="522" name="Google Shape;522;p52"/>
          <p:cNvSpPr txBox="1">
            <a:spLocks noGrp="1"/>
          </p:cNvSpPr>
          <p:nvPr>
            <p:ph type="subTitle" idx="1"/>
          </p:nvPr>
        </p:nvSpPr>
        <p:spPr>
          <a:xfrm>
            <a:off x="3854900" y="3855551"/>
            <a:ext cx="3733800" cy="4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to </a:t>
            </a:r>
            <a:r>
              <a:rPr lang="en" dirty="0" err="1"/>
              <a:t>plotly</a:t>
            </a:r>
            <a:r>
              <a:rPr lang="en" dirty="0"/>
              <a:t>()</a:t>
            </a:r>
            <a:endParaRPr dirty="0"/>
          </a:p>
        </p:txBody>
      </p:sp>
      <p:sp>
        <p:nvSpPr>
          <p:cNvPr id="523" name="Google Shape;523;p52"/>
          <p:cNvSpPr txBox="1">
            <a:spLocks noGrp="1"/>
          </p:cNvSpPr>
          <p:nvPr>
            <p:ph type="title" idx="2"/>
          </p:nvPr>
        </p:nvSpPr>
        <p:spPr>
          <a:xfrm>
            <a:off x="5121800" y="1643052"/>
            <a:ext cx="1200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524" name="Google Shape;524;p52"/>
          <p:cNvGrpSpPr/>
          <p:nvPr/>
        </p:nvGrpSpPr>
        <p:grpSpPr>
          <a:xfrm>
            <a:off x="181160" y="508623"/>
            <a:ext cx="8385900" cy="90900"/>
            <a:chOff x="160950" y="480600"/>
            <a:chExt cx="8385900" cy="90900"/>
          </a:xfrm>
        </p:grpSpPr>
        <p:cxnSp>
          <p:nvCxnSpPr>
            <p:cNvPr id="525" name="Google Shape;525;p52"/>
            <p:cNvCxnSpPr/>
            <p:nvPr/>
          </p:nvCxnSpPr>
          <p:spPr>
            <a:xfrm>
              <a:off x="160950" y="571500"/>
              <a:ext cx="8385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26" name="Google Shape;526;p52"/>
            <p:cNvSpPr/>
            <p:nvPr/>
          </p:nvSpPr>
          <p:spPr>
            <a:xfrm>
              <a:off x="8041650" y="480600"/>
              <a:ext cx="505200" cy="90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52"/>
          <p:cNvGrpSpPr/>
          <p:nvPr/>
        </p:nvGrpSpPr>
        <p:grpSpPr>
          <a:xfrm>
            <a:off x="1113520" y="156298"/>
            <a:ext cx="90900" cy="3697200"/>
            <a:chOff x="1113520" y="156298"/>
            <a:chExt cx="90900" cy="3697200"/>
          </a:xfrm>
        </p:grpSpPr>
        <p:sp>
          <p:nvSpPr>
            <p:cNvPr id="528" name="Google Shape;528;p52"/>
            <p:cNvSpPr/>
            <p:nvPr/>
          </p:nvSpPr>
          <p:spPr>
            <a:xfrm rot="-5400000">
              <a:off x="906370" y="3555448"/>
              <a:ext cx="505200" cy="90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29" name="Google Shape;529;p52"/>
            <p:cNvCxnSpPr/>
            <p:nvPr/>
          </p:nvCxnSpPr>
          <p:spPr>
            <a:xfrm rot="10800000">
              <a:off x="1121185" y="156298"/>
              <a:ext cx="0" cy="3434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>
          <a:extLst>
            <a:ext uri="{FF2B5EF4-FFF2-40B4-BE49-F238E27FC236}">
              <a16:creationId xmlns:a16="http://schemas.microsoft.com/office/drawing/2014/main" id="{721384F4-12F3-ADBC-533B-50B19FACA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94;p50">
            <a:extLst>
              <a:ext uri="{FF2B5EF4-FFF2-40B4-BE49-F238E27FC236}">
                <a16:creationId xmlns:a16="http://schemas.microsoft.com/office/drawing/2014/main" id="{7C1F0B3B-C792-0CC1-79B9-20E8CA91EA5B}"/>
              </a:ext>
            </a:extLst>
          </p:cNvPr>
          <p:cNvSpPr txBox="1">
            <a:spLocks/>
          </p:cNvSpPr>
          <p:nvPr/>
        </p:nvSpPr>
        <p:spPr>
          <a:xfrm>
            <a:off x="720000" y="32640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erif Ethiopic"/>
              <a:buNone/>
              <a:defRPr sz="2400" b="0" i="0" u="none" strike="noStrike" cap="none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en-US" sz="3200" b="1" dirty="0"/>
              <a:t>What is </a:t>
            </a:r>
            <a:r>
              <a:rPr lang="en-US" sz="3200" b="1" dirty="0" err="1"/>
              <a:t>plotly</a:t>
            </a:r>
            <a:r>
              <a:rPr lang="en-US" sz="3200" b="1" dirty="0"/>
              <a:t>()</a:t>
            </a:r>
          </a:p>
        </p:txBody>
      </p:sp>
      <p:sp>
        <p:nvSpPr>
          <p:cNvPr id="7" name="Google Shape;445;p45">
            <a:extLst>
              <a:ext uri="{FF2B5EF4-FFF2-40B4-BE49-F238E27FC236}">
                <a16:creationId xmlns:a16="http://schemas.microsoft.com/office/drawing/2014/main" id="{A401DE81-1E19-4A97-1541-7EE0F048BFB4}"/>
              </a:ext>
            </a:extLst>
          </p:cNvPr>
          <p:cNvSpPr txBox="1">
            <a:spLocks/>
          </p:cNvSpPr>
          <p:nvPr/>
        </p:nvSpPr>
        <p:spPr>
          <a:xfrm>
            <a:off x="664999" y="995309"/>
            <a:ext cx="7338024" cy="3620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342900" indent="-342900" algn="l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  <a:hlinkClick r:id="rId3"/>
              </a:rPr>
              <a:t>Plotly</a:t>
            </a:r>
            <a:r>
              <a:rPr lang="en-US" sz="1600" dirty="0">
                <a:latin typeface="Noto Serif Ethiopic"/>
                <a:sym typeface="Noto Serif Ethiopic"/>
              </a:rPr>
              <a:t> is an R package for creating </a:t>
            </a:r>
            <a:r>
              <a:rPr lang="en-US" sz="1600" dirty="0">
                <a:solidFill>
                  <a:srgbClr val="FF0000"/>
                </a:solidFill>
                <a:latin typeface="Noto Serif Ethiopic"/>
                <a:sym typeface="Noto Serif Ethiopic"/>
              </a:rPr>
              <a:t>interactive</a:t>
            </a:r>
            <a:r>
              <a:rPr lang="en-US" sz="1600" dirty="0">
                <a:latin typeface="Noto Serif Ethiopic"/>
                <a:sym typeface="Noto Serif Ethiopic"/>
              </a:rPr>
              <a:t> web-based graphs via the open source JavaScript graphing library </a:t>
            </a:r>
            <a:r>
              <a:rPr lang="en-US" sz="1600" dirty="0" err="1">
                <a:latin typeface="Noto Serif Ethiopic"/>
                <a:sym typeface="Noto Serif Ethiopic"/>
              </a:rPr>
              <a:t>plotly.js</a:t>
            </a:r>
            <a:r>
              <a:rPr lang="en-US" sz="1600" dirty="0">
                <a:latin typeface="Noto Serif Ethiopic"/>
                <a:sym typeface="Noto Serif Ethiopic"/>
              </a:rPr>
              <a:t>. </a:t>
            </a:r>
          </a:p>
          <a:p>
            <a:pPr marL="342900" indent="-342900" algn="l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By default, Plotly for R runs locally in your web browser or in the R studio viewer. </a:t>
            </a:r>
          </a:p>
          <a:p>
            <a:pPr marL="342900" indent="-342900" algn="l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There are examples of </a:t>
            </a:r>
            <a:r>
              <a:rPr lang="en-US" sz="1600" dirty="0" err="1">
                <a:latin typeface="Noto Serif Ethiopic"/>
                <a:sym typeface="Noto Serif Ethiopic"/>
              </a:rPr>
              <a:t>plotly</a:t>
            </a:r>
            <a:r>
              <a:rPr lang="en-US" sz="1600" dirty="0">
                <a:latin typeface="Noto Serif Ethiopic"/>
                <a:sym typeface="Noto Serif Ethiopic"/>
              </a:rPr>
              <a:t> plots here: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sz="1400" dirty="0">
                <a:latin typeface="Noto Serif Ethiopic"/>
                <a:sym typeface="Noto Serif Ethiopic"/>
                <a:hlinkClick r:id="rId4"/>
              </a:rPr>
              <a:t>https://plotly.com/r/</a:t>
            </a:r>
            <a:r>
              <a:rPr lang="en-US" sz="1400" dirty="0">
                <a:latin typeface="Noto Serif Ethiopic"/>
                <a:sym typeface="Noto Serif Ethiopic"/>
              </a:rPr>
              <a:t> </a:t>
            </a:r>
          </a:p>
          <a:p>
            <a:pPr marL="342900" indent="-342900" algn="l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There is a cheat sheet for </a:t>
            </a:r>
            <a:r>
              <a:rPr lang="en-US" sz="1600" dirty="0" err="1">
                <a:latin typeface="Noto Serif Ethiopic"/>
                <a:sym typeface="Noto Serif Ethiopic"/>
              </a:rPr>
              <a:t>plotly</a:t>
            </a:r>
            <a:r>
              <a:rPr lang="en-US" sz="1600" dirty="0">
                <a:latin typeface="Noto Serif Ethiopic"/>
                <a:sym typeface="Noto Serif Ethiopic"/>
              </a:rPr>
              <a:t> plots in the </a:t>
            </a:r>
            <a:r>
              <a:rPr lang="en-US" sz="1600" dirty="0" err="1">
                <a:latin typeface="Noto Serif Ethiopic"/>
                <a:sym typeface="Noto Serif Ethiopic"/>
              </a:rPr>
              <a:t>github</a:t>
            </a:r>
            <a:endParaRPr lang="en-US" sz="1600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sz="1400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sz="1400" dirty="0">
              <a:latin typeface="Noto Serif Ethiopic"/>
              <a:sym typeface="Noto Serif Ethiopic"/>
            </a:endParaRPr>
          </a:p>
        </p:txBody>
      </p:sp>
    </p:spTree>
    <p:extLst>
      <p:ext uri="{BB962C8B-B14F-4D97-AF65-F5344CB8AC3E}">
        <p14:creationId xmlns:p14="http://schemas.microsoft.com/office/powerpoint/2010/main" val="268414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Plotly</a:t>
            </a:r>
            <a:endParaRPr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3C234AD-AB26-BD2B-FE72-BE3E087417CD}"/>
              </a:ext>
            </a:extLst>
          </p:cNvPr>
          <p:cNvCxnSpPr>
            <a:cxnSpLocks/>
          </p:cNvCxnSpPr>
          <p:nvPr/>
        </p:nvCxnSpPr>
        <p:spPr>
          <a:xfrm flipH="1">
            <a:off x="2153265" y="1017725"/>
            <a:ext cx="1482211" cy="9438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31B959E-3740-83FA-8A13-0F3A0E8BE0D9}"/>
              </a:ext>
            </a:extLst>
          </p:cNvPr>
          <p:cNvCxnSpPr>
            <a:cxnSpLocks/>
          </p:cNvCxnSpPr>
          <p:nvPr/>
        </p:nvCxnSpPr>
        <p:spPr>
          <a:xfrm>
            <a:off x="5302048" y="1017725"/>
            <a:ext cx="1393720" cy="9438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Google Shape;445;p45">
            <a:extLst>
              <a:ext uri="{FF2B5EF4-FFF2-40B4-BE49-F238E27FC236}">
                <a16:creationId xmlns:a16="http://schemas.microsoft.com/office/drawing/2014/main" id="{3F848113-4025-145C-BA0D-85783FBCE9AD}"/>
              </a:ext>
            </a:extLst>
          </p:cNvPr>
          <p:cNvSpPr txBox="1">
            <a:spLocks/>
          </p:cNvSpPr>
          <p:nvPr/>
        </p:nvSpPr>
        <p:spPr>
          <a:xfrm>
            <a:off x="168270" y="1999050"/>
            <a:ext cx="396998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457200" lvl="1" indent="0">
              <a:lnSpc>
                <a:spcPct val="150000"/>
              </a:lnSpc>
              <a:buNone/>
            </a:pPr>
            <a:r>
              <a:rPr lang="en-US" sz="1400" dirty="0">
                <a:latin typeface="Noto Serif Ethiopic"/>
                <a:sym typeface="Noto Serif Ethiopic"/>
              </a:rPr>
              <a:t>Work directly with </a:t>
            </a:r>
            <a:r>
              <a:rPr lang="en-US" sz="1400" dirty="0" err="1">
                <a:latin typeface="Noto Serif Ethiopic"/>
                <a:sym typeface="Noto Serif Ethiopic"/>
              </a:rPr>
              <a:t>plot_ly</a:t>
            </a:r>
            <a:r>
              <a:rPr lang="en-US" sz="1400" dirty="0">
                <a:latin typeface="Noto Serif Ethiopic"/>
                <a:sym typeface="Noto Serif Ethiopic"/>
              </a:rPr>
              <a:t>() function</a:t>
            </a:r>
          </a:p>
          <a:p>
            <a:pPr marL="800100" lvl="1" indent="-342900">
              <a:lnSpc>
                <a:spcPct val="150000"/>
              </a:lnSpc>
            </a:pPr>
            <a:endParaRPr lang="en-US" sz="1400" dirty="0">
              <a:latin typeface="Noto Serif Ethiopic"/>
              <a:sym typeface="Noto Serif Ethiopic"/>
            </a:endParaRPr>
          </a:p>
        </p:txBody>
      </p:sp>
      <p:sp>
        <p:nvSpPr>
          <p:cNvPr id="12" name="Google Shape;445;p45">
            <a:extLst>
              <a:ext uri="{FF2B5EF4-FFF2-40B4-BE49-F238E27FC236}">
                <a16:creationId xmlns:a16="http://schemas.microsoft.com/office/drawing/2014/main" id="{94906B5B-59C2-7C98-B3A5-6B7E16B1527C}"/>
              </a:ext>
            </a:extLst>
          </p:cNvPr>
          <p:cNvSpPr txBox="1">
            <a:spLocks/>
          </p:cNvSpPr>
          <p:nvPr/>
        </p:nvSpPr>
        <p:spPr>
          <a:xfrm>
            <a:off x="4247535" y="1895168"/>
            <a:ext cx="444060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457200" lvl="1" indent="0" algn="ctr">
              <a:lnSpc>
                <a:spcPct val="150000"/>
              </a:lnSpc>
              <a:buNone/>
            </a:pPr>
            <a:r>
              <a:rPr lang="en-US" sz="1400" dirty="0">
                <a:latin typeface="Noto Serif Ethiopic"/>
                <a:sym typeface="Noto Serif Ethiopic"/>
              </a:rPr>
              <a:t>Using </a:t>
            </a:r>
            <a:r>
              <a:rPr lang="en-US" sz="1400" dirty="0" err="1">
                <a:latin typeface="Noto Serif Ethiopic"/>
                <a:sym typeface="Noto Serif Ethiopic"/>
              </a:rPr>
              <a:t>ggplot</a:t>
            </a:r>
            <a:r>
              <a:rPr lang="en-US" sz="1400" dirty="0">
                <a:latin typeface="Noto Serif Ethiopic"/>
                <a:sym typeface="Noto Serif Ethiopic"/>
              </a:rPr>
              <a:t> then convert use </a:t>
            </a:r>
            <a:r>
              <a:rPr lang="en-US" sz="1400" dirty="0" err="1">
                <a:latin typeface="Noto Serif Ethiopic"/>
                <a:sym typeface="Noto Serif Ethiopic"/>
              </a:rPr>
              <a:t>ggplotly</a:t>
            </a:r>
            <a:r>
              <a:rPr lang="en-US" sz="1400" dirty="0">
                <a:latin typeface="Noto Serif Ethiopic"/>
                <a:sym typeface="Noto Serif Ethiopic"/>
              </a:rPr>
              <a:t>() to convert them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91BDCEC-C6D2-5287-4743-8334184082F1}"/>
              </a:ext>
            </a:extLst>
          </p:cNvPr>
          <p:cNvCxnSpPr>
            <a:cxnSpLocks/>
          </p:cNvCxnSpPr>
          <p:nvPr/>
        </p:nvCxnSpPr>
        <p:spPr>
          <a:xfrm>
            <a:off x="2153263" y="2674989"/>
            <a:ext cx="0" cy="811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Google Shape;445;p45">
            <a:extLst>
              <a:ext uri="{FF2B5EF4-FFF2-40B4-BE49-F238E27FC236}">
                <a16:creationId xmlns:a16="http://schemas.microsoft.com/office/drawing/2014/main" id="{DDACED1B-E86B-B7C1-34BE-925604DF83FA}"/>
              </a:ext>
            </a:extLst>
          </p:cNvPr>
          <p:cNvSpPr txBox="1">
            <a:spLocks/>
          </p:cNvSpPr>
          <p:nvPr/>
        </p:nvSpPr>
        <p:spPr>
          <a:xfrm>
            <a:off x="39221" y="3553075"/>
            <a:ext cx="422808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457200" lvl="1" indent="0">
              <a:lnSpc>
                <a:spcPct val="150000"/>
              </a:lnSpc>
              <a:buNone/>
            </a:pPr>
            <a:r>
              <a:rPr lang="en-US" sz="1400" dirty="0">
                <a:latin typeface="Noto Serif Ethiopic"/>
                <a:sym typeface="Noto Serif Ethiopic"/>
              </a:rPr>
              <a:t>Use </a:t>
            </a:r>
            <a:r>
              <a:rPr lang="en-US" sz="1400" dirty="0" err="1">
                <a:latin typeface="Noto Serif Ethiopic"/>
                <a:sym typeface="Noto Serif Ethiopic"/>
              </a:rPr>
              <a:t>plot_ly</a:t>
            </a:r>
            <a:r>
              <a:rPr lang="en-US" sz="1400" dirty="0">
                <a:latin typeface="Noto Serif Ethiopic"/>
                <a:sym typeface="Noto Serif Ethiopic"/>
              </a:rPr>
              <a:t>(data, x, y, type) as foundation</a:t>
            </a:r>
          </a:p>
        </p:txBody>
      </p:sp>
      <p:sp>
        <p:nvSpPr>
          <p:cNvPr id="21" name="Google Shape;445;p45">
            <a:extLst>
              <a:ext uri="{FF2B5EF4-FFF2-40B4-BE49-F238E27FC236}">
                <a16:creationId xmlns:a16="http://schemas.microsoft.com/office/drawing/2014/main" id="{5439AAB1-254C-3893-F28D-5BE3EE7397BE}"/>
              </a:ext>
            </a:extLst>
          </p:cNvPr>
          <p:cNvSpPr txBox="1">
            <a:spLocks/>
          </p:cNvSpPr>
          <p:nvPr/>
        </p:nvSpPr>
        <p:spPr>
          <a:xfrm>
            <a:off x="4353793" y="3553075"/>
            <a:ext cx="422808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457200" lvl="1" indent="0" algn="ctr">
              <a:lnSpc>
                <a:spcPct val="150000"/>
              </a:lnSpc>
              <a:buNone/>
            </a:pPr>
            <a:r>
              <a:rPr lang="en-US" sz="1400" dirty="0">
                <a:latin typeface="Noto Serif Ethiopic"/>
                <a:sym typeface="Noto Serif Ethiopic"/>
              </a:rPr>
              <a:t>Build </a:t>
            </a:r>
            <a:r>
              <a:rPr lang="en-US" sz="1400" dirty="0" err="1">
                <a:latin typeface="Noto Serif Ethiopic"/>
                <a:sym typeface="Noto Serif Ethiopic"/>
              </a:rPr>
              <a:t>ggplot</a:t>
            </a:r>
            <a:r>
              <a:rPr lang="en-US" sz="1400" dirty="0">
                <a:latin typeface="Noto Serif Ethiopic"/>
                <a:sym typeface="Noto Serif Ethiopic"/>
              </a:rPr>
              <a:t> first =&gt; transform the plot to interactive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A86CEFC-0710-F849-90D3-C141FDDDDB4F}"/>
              </a:ext>
            </a:extLst>
          </p:cNvPr>
          <p:cNvCxnSpPr>
            <a:cxnSpLocks/>
          </p:cNvCxnSpPr>
          <p:nvPr/>
        </p:nvCxnSpPr>
        <p:spPr>
          <a:xfrm>
            <a:off x="6693309" y="2741999"/>
            <a:ext cx="0" cy="811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0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8"/>
          <p:cNvSpPr txBox="1">
            <a:spLocks noGrp="1"/>
          </p:cNvSpPr>
          <p:nvPr>
            <p:ph type="title"/>
          </p:nvPr>
        </p:nvSpPr>
        <p:spPr>
          <a:xfrm>
            <a:off x="2543787" y="674854"/>
            <a:ext cx="3716903" cy="6451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dirty="0">
                <a:solidFill>
                  <a:schemeClr val="tx1"/>
                </a:solidFill>
              </a:rPr>
              <a:t>Try it yourself!</a:t>
            </a:r>
            <a:endParaRPr sz="3500" b="1" dirty="0">
              <a:solidFill>
                <a:schemeClr val="tx1"/>
              </a:solidFill>
            </a:endParaRPr>
          </a:p>
        </p:txBody>
      </p:sp>
      <p:sp>
        <p:nvSpPr>
          <p:cNvPr id="4" name="Google Shape;445;p45">
            <a:extLst>
              <a:ext uri="{FF2B5EF4-FFF2-40B4-BE49-F238E27FC236}">
                <a16:creationId xmlns:a16="http://schemas.microsoft.com/office/drawing/2014/main" id="{A5792053-25ED-703B-4307-4EE557F32DB5}"/>
              </a:ext>
            </a:extLst>
          </p:cNvPr>
          <p:cNvSpPr txBox="1">
            <a:spLocks/>
          </p:cNvSpPr>
          <p:nvPr/>
        </p:nvSpPr>
        <p:spPr>
          <a:xfrm>
            <a:off x="664999" y="1474839"/>
            <a:ext cx="7338024" cy="329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342900" indent="-342900" algn="l">
              <a:lnSpc>
                <a:spcPct val="200000"/>
              </a:lnSpc>
            </a:pPr>
            <a:r>
              <a:rPr lang="en-US" sz="1600" b="1" dirty="0">
                <a:latin typeface="Noto Serif Ethiopic"/>
                <a:sym typeface="Noto Serif Ethiopic"/>
              </a:rPr>
              <a:t>load the dataset data(</a:t>
            </a:r>
            <a:r>
              <a:rPr lang="en-US" sz="1600" b="1" dirty="0" err="1">
                <a:latin typeface="Noto Serif Ethiopic"/>
                <a:sym typeface="Noto Serif Ethiopic"/>
              </a:rPr>
              <a:t>mtcars</a:t>
            </a:r>
            <a:r>
              <a:rPr lang="en-US" sz="1600" b="1" dirty="0">
                <a:latin typeface="Noto Serif Ethiopic"/>
                <a:sym typeface="Noto Serif Ethiopic"/>
              </a:rPr>
              <a:t>) and do the following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Create a scatterplot of weight vs. mpg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color the points by number of cylinders (</a:t>
            </a:r>
            <a:r>
              <a:rPr lang="en-US" sz="1600" dirty="0" err="1">
                <a:latin typeface="Noto Serif Ethiopic"/>
                <a:sym typeface="Noto Serif Ethiopic"/>
              </a:rPr>
              <a:t>cyl</a:t>
            </a:r>
            <a:r>
              <a:rPr lang="en-US" sz="1600" dirty="0">
                <a:latin typeface="Noto Serif Ethiopic"/>
                <a:sym typeface="Noto Serif Ethiopic"/>
              </a:rPr>
              <a:t>)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Add custom hover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Add horsepower (hp) to the hover text</a:t>
            </a:r>
          </a:p>
          <a:p>
            <a:pPr marL="800100" lvl="1" indent="-342900">
              <a:lnSpc>
                <a:spcPct val="150000"/>
              </a:lnSpc>
            </a:pPr>
            <a:endParaRPr lang="en-US" sz="1400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sz="1400" dirty="0">
              <a:latin typeface="Noto Serif Ethiopic"/>
              <a:sym typeface="Noto Serif Ethiop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>
          <a:extLst>
            <a:ext uri="{FF2B5EF4-FFF2-40B4-BE49-F238E27FC236}">
              <a16:creationId xmlns:a16="http://schemas.microsoft.com/office/drawing/2014/main" id="{172770D6-F9B6-3265-52AA-3486701D2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94;p50">
            <a:extLst>
              <a:ext uri="{FF2B5EF4-FFF2-40B4-BE49-F238E27FC236}">
                <a16:creationId xmlns:a16="http://schemas.microsoft.com/office/drawing/2014/main" id="{B845D36F-1ECE-784E-772D-C9F0A0DF774A}"/>
              </a:ext>
            </a:extLst>
          </p:cNvPr>
          <p:cNvSpPr txBox="1">
            <a:spLocks/>
          </p:cNvSpPr>
          <p:nvPr/>
        </p:nvSpPr>
        <p:spPr>
          <a:xfrm>
            <a:off x="720000" y="32640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erif Ethiopic"/>
              <a:buNone/>
              <a:defRPr sz="2400" b="0" i="0" u="none" strike="noStrike" cap="none">
                <a:solidFill>
                  <a:schemeClr val="dk1"/>
                </a:solidFill>
                <a:latin typeface="Noto Serif Ethiopic"/>
                <a:ea typeface="Noto Serif Ethiopic"/>
                <a:cs typeface="Noto Serif Ethiopic"/>
                <a:sym typeface="Noto Serif Ethiopi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en-US" sz="3200" b="1" dirty="0"/>
              <a:t>Summary</a:t>
            </a:r>
          </a:p>
        </p:txBody>
      </p:sp>
      <p:sp>
        <p:nvSpPr>
          <p:cNvPr id="7" name="Google Shape;445;p45">
            <a:extLst>
              <a:ext uri="{FF2B5EF4-FFF2-40B4-BE49-F238E27FC236}">
                <a16:creationId xmlns:a16="http://schemas.microsoft.com/office/drawing/2014/main" id="{F1F8337D-96D8-879D-3971-38D95B6F2AFE}"/>
              </a:ext>
            </a:extLst>
          </p:cNvPr>
          <p:cNvSpPr txBox="1">
            <a:spLocks/>
          </p:cNvSpPr>
          <p:nvPr/>
        </p:nvSpPr>
        <p:spPr>
          <a:xfrm>
            <a:off x="664999" y="995309"/>
            <a:ext cx="7338024" cy="3620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342900" indent="-342900" algn="l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Interactive plots can allow audience to engage with the visualization more</a:t>
            </a:r>
          </a:p>
          <a:p>
            <a:pPr marL="342900" indent="-342900" algn="l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Use </a:t>
            </a:r>
            <a:r>
              <a:rPr lang="en-US" sz="1600" dirty="0" err="1">
                <a:latin typeface="Noto Serif Ethiopic"/>
                <a:sym typeface="Noto Serif Ethiopic"/>
              </a:rPr>
              <a:t>ggplotly</a:t>
            </a:r>
            <a:r>
              <a:rPr lang="en-US" sz="1600" dirty="0">
                <a:latin typeface="Noto Serif Ethiopic"/>
                <a:sym typeface="Noto Serif Ethiopic"/>
              </a:rPr>
              <a:t>() or </a:t>
            </a:r>
            <a:r>
              <a:rPr lang="en-US" sz="1600" dirty="0" err="1">
                <a:latin typeface="Noto Serif Ethiopic"/>
                <a:sym typeface="Noto Serif Ethiopic"/>
              </a:rPr>
              <a:t>plot_ly</a:t>
            </a:r>
            <a:r>
              <a:rPr lang="en-US" sz="1600" dirty="0">
                <a:latin typeface="Noto Serif Ethiopic"/>
                <a:sym typeface="Noto Serif Ethiopic"/>
              </a:rPr>
              <a:t>() to create interactive plot</a:t>
            </a:r>
          </a:p>
          <a:p>
            <a:pPr marL="342900" indent="-342900" algn="l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Use layout() to add titles and axes names for </a:t>
            </a:r>
            <a:r>
              <a:rPr lang="en-US" sz="1600" dirty="0" err="1">
                <a:latin typeface="Noto Serif Ethiopic"/>
                <a:sym typeface="Noto Serif Ethiopic"/>
              </a:rPr>
              <a:t>plot_ly</a:t>
            </a:r>
            <a:r>
              <a:rPr lang="en-US" sz="1600" dirty="0">
                <a:latin typeface="Noto Serif Ethiopic"/>
                <a:sym typeface="Noto Serif Ethiopic"/>
              </a:rPr>
              <a:t>()</a:t>
            </a:r>
          </a:p>
          <a:p>
            <a:pPr marL="342900" indent="-342900" algn="l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Limitations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Only work on Shiny app (coming up next) or Quarto presentation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Lost the interactive attributes if we download the graph</a:t>
            </a:r>
          </a:p>
          <a:p>
            <a:pPr marL="800100" lvl="1" indent="-342900">
              <a:lnSpc>
                <a:spcPct val="150000"/>
              </a:lnSpc>
            </a:pPr>
            <a:endParaRPr lang="en-US" sz="1400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150000"/>
              </a:lnSpc>
            </a:pPr>
            <a:endParaRPr lang="en-US" sz="1400" dirty="0">
              <a:latin typeface="Noto Serif Ethiopic"/>
              <a:sym typeface="Noto Serif Ethiopic"/>
            </a:endParaRPr>
          </a:p>
        </p:txBody>
      </p:sp>
    </p:spTree>
    <p:extLst>
      <p:ext uri="{BB962C8B-B14F-4D97-AF65-F5344CB8AC3E}">
        <p14:creationId xmlns:p14="http://schemas.microsoft.com/office/powerpoint/2010/main" val="422864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B2CFB7C3-2FB8-DBB4-25CE-BC9DF275D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2">
            <a:extLst>
              <a:ext uri="{FF2B5EF4-FFF2-40B4-BE49-F238E27FC236}">
                <a16:creationId xmlns:a16="http://schemas.microsoft.com/office/drawing/2014/main" id="{707B4302-FA4D-67F9-9172-24FAD19B5C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5900" y="2989850"/>
            <a:ext cx="3733800" cy="6861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Shiny</a:t>
            </a:r>
            <a:endParaRPr dirty="0"/>
          </a:p>
        </p:txBody>
      </p:sp>
      <p:sp>
        <p:nvSpPr>
          <p:cNvPr id="522" name="Google Shape;522;p52">
            <a:extLst>
              <a:ext uri="{FF2B5EF4-FFF2-40B4-BE49-F238E27FC236}">
                <a16:creationId xmlns:a16="http://schemas.microsoft.com/office/drawing/2014/main" id="{2EEDCC04-BC36-416F-9EC9-E3A77A74B6C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04420" y="3629750"/>
            <a:ext cx="3733800" cy="4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to use Shiny Assistant to help?</a:t>
            </a:r>
            <a:endParaRPr dirty="0"/>
          </a:p>
        </p:txBody>
      </p:sp>
      <p:sp>
        <p:nvSpPr>
          <p:cNvPr id="523" name="Google Shape;523;p52">
            <a:extLst>
              <a:ext uri="{FF2B5EF4-FFF2-40B4-BE49-F238E27FC236}">
                <a16:creationId xmlns:a16="http://schemas.microsoft.com/office/drawing/2014/main" id="{283B8507-F055-C17D-FA9F-4BCB7D6850B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61209" y="2148050"/>
            <a:ext cx="1200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524" name="Google Shape;524;p52">
            <a:extLst>
              <a:ext uri="{FF2B5EF4-FFF2-40B4-BE49-F238E27FC236}">
                <a16:creationId xmlns:a16="http://schemas.microsoft.com/office/drawing/2014/main" id="{B700A891-87C7-89B2-DC7F-99E0CF8B142D}"/>
              </a:ext>
            </a:extLst>
          </p:cNvPr>
          <p:cNvGrpSpPr/>
          <p:nvPr/>
        </p:nvGrpSpPr>
        <p:grpSpPr>
          <a:xfrm>
            <a:off x="181160" y="508623"/>
            <a:ext cx="8385900" cy="90900"/>
            <a:chOff x="160950" y="480600"/>
            <a:chExt cx="8385900" cy="90900"/>
          </a:xfrm>
        </p:grpSpPr>
        <p:cxnSp>
          <p:nvCxnSpPr>
            <p:cNvPr id="525" name="Google Shape;525;p52">
              <a:extLst>
                <a:ext uri="{FF2B5EF4-FFF2-40B4-BE49-F238E27FC236}">
                  <a16:creationId xmlns:a16="http://schemas.microsoft.com/office/drawing/2014/main" id="{4EAF759D-FF6E-5A04-F3BA-CD62487349AE}"/>
                </a:ext>
              </a:extLst>
            </p:cNvPr>
            <p:cNvCxnSpPr/>
            <p:nvPr/>
          </p:nvCxnSpPr>
          <p:spPr>
            <a:xfrm>
              <a:off x="160950" y="571500"/>
              <a:ext cx="8385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26" name="Google Shape;526;p52">
              <a:extLst>
                <a:ext uri="{FF2B5EF4-FFF2-40B4-BE49-F238E27FC236}">
                  <a16:creationId xmlns:a16="http://schemas.microsoft.com/office/drawing/2014/main" id="{4B0D58ED-54BB-75FB-C970-243554D25315}"/>
                </a:ext>
              </a:extLst>
            </p:cNvPr>
            <p:cNvSpPr/>
            <p:nvPr/>
          </p:nvSpPr>
          <p:spPr>
            <a:xfrm>
              <a:off x="8041650" y="480600"/>
              <a:ext cx="505200" cy="90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52">
            <a:extLst>
              <a:ext uri="{FF2B5EF4-FFF2-40B4-BE49-F238E27FC236}">
                <a16:creationId xmlns:a16="http://schemas.microsoft.com/office/drawing/2014/main" id="{27D46D91-753A-D24E-7363-43C61900DC2E}"/>
              </a:ext>
            </a:extLst>
          </p:cNvPr>
          <p:cNvGrpSpPr/>
          <p:nvPr/>
        </p:nvGrpSpPr>
        <p:grpSpPr>
          <a:xfrm>
            <a:off x="1113520" y="156298"/>
            <a:ext cx="90900" cy="3697200"/>
            <a:chOff x="1113520" y="156298"/>
            <a:chExt cx="90900" cy="3697200"/>
          </a:xfrm>
        </p:grpSpPr>
        <p:sp>
          <p:nvSpPr>
            <p:cNvPr id="528" name="Google Shape;528;p52">
              <a:extLst>
                <a:ext uri="{FF2B5EF4-FFF2-40B4-BE49-F238E27FC236}">
                  <a16:creationId xmlns:a16="http://schemas.microsoft.com/office/drawing/2014/main" id="{35CC97A0-346F-8DB8-BD20-661CA67F9FCD}"/>
                </a:ext>
              </a:extLst>
            </p:cNvPr>
            <p:cNvSpPr/>
            <p:nvPr/>
          </p:nvSpPr>
          <p:spPr>
            <a:xfrm rot="-5400000">
              <a:off x="906370" y="3555448"/>
              <a:ext cx="505200" cy="90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29" name="Google Shape;529;p52">
              <a:extLst>
                <a:ext uri="{FF2B5EF4-FFF2-40B4-BE49-F238E27FC236}">
                  <a16:creationId xmlns:a16="http://schemas.microsoft.com/office/drawing/2014/main" id="{A298FFAC-7746-3C46-4A2E-3EB86642D38F}"/>
                </a:ext>
              </a:extLst>
            </p:cNvPr>
            <p:cNvCxnSpPr/>
            <p:nvPr/>
          </p:nvCxnSpPr>
          <p:spPr>
            <a:xfrm rot="10800000">
              <a:off x="1121185" y="156298"/>
              <a:ext cx="0" cy="3434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6399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599F4991-3A3A-00FC-DF4D-44279F44B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0">
            <a:extLst>
              <a:ext uri="{FF2B5EF4-FFF2-40B4-BE49-F238E27FC236}">
                <a16:creationId xmlns:a16="http://schemas.microsoft.com/office/drawing/2014/main" id="{C7DF31A0-5A97-3120-1BBC-608BF91F45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0491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What is Shiny?</a:t>
            </a:r>
            <a:endParaRPr b="1" dirty="0"/>
          </a:p>
        </p:txBody>
      </p:sp>
      <p:sp>
        <p:nvSpPr>
          <p:cNvPr id="20" name="Google Shape;445;p45">
            <a:extLst>
              <a:ext uri="{FF2B5EF4-FFF2-40B4-BE49-F238E27FC236}">
                <a16:creationId xmlns:a16="http://schemas.microsoft.com/office/drawing/2014/main" id="{1297BDC6-485A-FED2-A29F-DFCA6EC56626}"/>
              </a:ext>
            </a:extLst>
          </p:cNvPr>
          <p:cNvSpPr txBox="1">
            <a:spLocks/>
          </p:cNvSpPr>
          <p:nvPr/>
        </p:nvSpPr>
        <p:spPr>
          <a:xfrm>
            <a:off x="640853" y="1128339"/>
            <a:ext cx="7338024" cy="241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342900" indent="-342900" algn="l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  <a:hlinkClick r:id="rId3"/>
              </a:rPr>
              <a:t>An R package</a:t>
            </a:r>
            <a:endParaRPr lang="en-US" sz="1600" dirty="0">
              <a:latin typeface="Noto Serif Ethiopic"/>
              <a:sym typeface="Noto Serif Ethiopic"/>
            </a:endParaRPr>
          </a:p>
          <a:p>
            <a:pPr marL="342900" indent="-342900" algn="l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A way to create interactive plots, tables, and so forth for clients or other data stakeholders</a:t>
            </a:r>
          </a:p>
          <a:p>
            <a:pPr marL="342900" indent="-342900" algn="l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Think of it like Tableau but with more power (and less user friendly)</a:t>
            </a:r>
            <a:endParaRPr lang="en-US" sz="1400" dirty="0">
              <a:latin typeface="Noto Serif Ethiopic"/>
              <a:sym typeface="Noto Serif Ethiopic"/>
            </a:endParaRPr>
          </a:p>
        </p:txBody>
      </p:sp>
      <p:pic>
        <p:nvPicPr>
          <p:cNvPr id="2050" name="Picture 2" descr="Shiny (web framework) - Wikipedia">
            <a:extLst>
              <a:ext uri="{FF2B5EF4-FFF2-40B4-BE49-F238E27FC236}">
                <a16:creationId xmlns:a16="http://schemas.microsoft.com/office/drawing/2014/main" id="{A62DBE6C-344B-B1D1-F1AF-E7F831854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862" y="3216788"/>
            <a:ext cx="1176285" cy="1356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05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0"/>
          <p:cNvSpPr txBox="1">
            <a:spLocks noGrp="1"/>
          </p:cNvSpPr>
          <p:nvPr>
            <p:ph type="title"/>
          </p:nvPr>
        </p:nvSpPr>
        <p:spPr>
          <a:xfrm>
            <a:off x="720000" y="30491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Foundations of Shiny</a:t>
            </a:r>
            <a:endParaRPr b="1" dirty="0"/>
          </a:p>
        </p:txBody>
      </p:sp>
      <p:sp>
        <p:nvSpPr>
          <p:cNvPr id="20" name="Google Shape;445;p45">
            <a:extLst>
              <a:ext uri="{FF2B5EF4-FFF2-40B4-BE49-F238E27FC236}">
                <a16:creationId xmlns:a16="http://schemas.microsoft.com/office/drawing/2014/main" id="{E13CFA44-07D3-84FB-65B1-B892E00A9E76}"/>
              </a:ext>
            </a:extLst>
          </p:cNvPr>
          <p:cNvSpPr txBox="1">
            <a:spLocks/>
          </p:cNvSpPr>
          <p:nvPr/>
        </p:nvSpPr>
        <p:spPr>
          <a:xfrm>
            <a:off x="664999" y="877615"/>
            <a:ext cx="7338024" cy="3620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342900" indent="-342900" algn="l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A Shiny app is a web page connected to a computer running a live R session</a:t>
            </a:r>
          </a:p>
          <a:p>
            <a:pPr marL="342900" indent="-342900" algn="l">
              <a:lnSpc>
                <a:spcPct val="200000"/>
              </a:lnSpc>
            </a:pPr>
            <a:r>
              <a:rPr lang="en-US" sz="1600" b="1" dirty="0">
                <a:latin typeface="Noto Serif Ethiopic"/>
                <a:sym typeface="Noto Serif Ethiopic"/>
              </a:rPr>
              <a:t>Three components </a:t>
            </a:r>
            <a:r>
              <a:rPr lang="en-US" sz="1600" dirty="0">
                <a:latin typeface="Noto Serif Ethiopic"/>
                <a:sym typeface="Noto Serif Ethiopic"/>
              </a:rPr>
              <a:t>to a Shiny app: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sz="1400" b="1" u="sng" dirty="0">
                <a:latin typeface="Noto Serif Ethiopic"/>
                <a:sym typeface="Noto Serif Ethiopic"/>
              </a:rPr>
              <a:t>UI (User Interface): </a:t>
            </a:r>
            <a:r>
              <a:rPr lang="en-US" sz="1400" dirty="0">
                <a:latin typeface="Noto Serif Ethiopic"/>
                <a:sym typeface="Noto Serif Ethiopic"/>
              </a:rPr>
              <a:t>nested R functions that assemble an HTML user interface for your app (controls the layout and appearance)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sz="1400" b="1" u="sng" dirty="0">
                <a:latin typeface="Noto Serif Ethiopic"/>
                <a:sym typeface="Noto Serif Ethiopic"/>
              </a:rPr>
              <a:t>Server: </a:t>
            </a:r>
            <a:r>
              <a:rPr lang="en-US" sz="1400" dirty="0">
                <a:latin typeface="Noto Serif Ethiopic"/>
                <a:sym typeface="Noto Serif Ethiopic"/>
              </a:rPr>
              <a:t>a function with instructions on how to build and rebuild the R objects displayed in the UI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sz="1400" b="1" u="sng" dirty="0" err="1">
                <a:latin typeface="Noto Serif Ethiopic"/>
                <a:sym typeface="Noto Serif Ethiopic"/>
              </a:rPr>
              <a:t>shinyApp</a:t>
            </a:r>
            <a:r>
              <a:rPr lang="en-US" sz="1400" b="1" u="sng" dirty="0">
                <a:latin typeface="Noto Serif Ethiopic"/>
                <a:sym typeface="Noto Serif Ethiopic"/>
              </a:rPr>
              <a:t>: </a:t>
            </a:r>
            <a:r>
              <a:rPr lang="en-US" sz="1400" dirty="0">
                <a:latin typeface="Noto Serif Ethiopic"/>
                <a:sym typeface="Noto Serif Ethiopic"/>
              </a:rPr>
              <a:t>combines the UI and server into a functioning app</a:t>
            </a:r>
          </a:p>
          <a:p>
            <a:pPr marL="800100" lvl="1" indent="-342900">
              <a:lnSpc>
                <a:spcPct val="150000"/>
              </a:lnSpc>
            </a:pPr>
            <a:endParaRPr lang="en-US" sz="1400" dirty="0">
              <a:latin typeface="Noto Serif Ethiopic"/>
              <a:sym typeface="Noto Serif Ethiop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2B1F75FE-93D9-47C9-5558-3E5A35616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0">
            <a:extLst>
              <a:ext uri="{FF2B5EF4-FFF2-40B4-BE49-F238E27FC236}">
                <a16:creationId xmlns:a16="http://schemas.microsoft.com/office/drawing/2014/main" id="{7BCCB53C-D90D-FD65-726A-DB15FACD36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999050"/>
            <a:ext cx="7704000" cy="10538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hlinkClick r:id="rId3"/>
              </a:rPr>
              <a:t>Shiny App Example</a:t>
            </a:r>
            <a:endParaRPr sz="4800" b="1" dirty="0"/>
          </a:p>
        </p:txBody>
      </p:sp>
    </p:spTree>
    <p:extLst>
      <p:ext uri="{BB962C8B-B14F-4D97-AF65-F5344CB8AC3E}">
        <p14:creationId xmlns:p14="http://schemas.microsoft.com/office/powerpoint/2010/main" val="30694438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3F1FD193-921F-1312-417A-E9C5003E6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0">
            <a:extLst>
              <a:ext uri="{FF2B5EF4-FFF2-40B4-BE49-F238E27FC236}">
                <a16:creationId xmlns:a16="http://schemas.microsoft.com/office/drawing/2014/main" id="{DBD92784-039E-516C-FB3C-A1DEFE94D7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0491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How to build Shiny?</a:t>
            </a:r>
            <a:endParaRPr b="1" dirty="0"/>
          </a:p>
        </p:txBody>
      </p:sp>
      <p:sp>
        <p:nvSpPr>
          <p:cNvPr id="20" name="Google Shape;445;p45">
            <a:extLst>
              <a:ext uri="{FF2B5EF4-FFF2-40B4-BE49-F238E27FC236}">
                <a16:creationId xmlns:a16="http://schemas.microsoft.com/office/drawing/2014/main" id="{2D5F72B6-2C05-7830-74C0-8F6CDB855BDF}"/>
              </a:ext>
            </a:extLst>
          </p:cNvPr>
          <p:cNvSpPr txBox="1">
            <a:spLocks/>
          </p:cNvSpPr>
          <p:nvPr/>
        </p:nvSpPr>
        <p:spPr>
          <a:xfrm>
            <a:off x="664999" y="1082206"/>
            <a:ext cx="7338024" cy="297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342900" indent="-342900" algn="l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We don’t have a lot of time to cover this material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It usually takes a long time to learn the workflow</a:t>
            </a:r>
          </a:p>
          <a:p>
            <a:pPr marL="342900" indent="-342900" algn="l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There’s a ”helper” called </a:t>
            </a:r>
            <a:r>
              <a:rPr lang="en-US" sz="1600" dirty="0">
                <a:latin typeface="Noto Serif Ethiopic"/>
                <a:sym typeface="Noto Serif Ethiopic"/>
                <a:hlinkClick r:id="rId3"/>
              </a:rPr>
              <a:t>Shiny Assistant </a:t>
            </a:r>
            <a:endParaRPr lang="en-US" sz="1600" dirty="0">
              <a:latin typeface="Noto Serif Ethiopic"/>
              <a:sym typeface="Noto Serif Ethiopic"/>
            </a:endParaRPr>
          </a:p>
          <a:p>
            <a:pPr marL="800100" lvl="1" indent="-342900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We will mainly focus on how to have Shiny Assistant help us design a Shiny app quickly</a:t>
            </a:r>
          </a:p>
          <a:p>
            <a:pPr marL="800100" lvl="1" indent="-342900">
              <a:lnSpc>
                <a:spcPct val="20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Shiny Assistant is similar to ChatGPT but only focus on Shiny</a:t>
            </a:r>
          </a:p>
        </p:txBody>
      </p:sp>
    </p:spTree>
    <p:extLst>
      <p:ext uri="{BB962C8B-B14F-4D97-AF65-F5344CB8AC3E}">
        <p14:creationId xmlns:p14="http://schemas.microsoft.com/office/powerpoint/2010/main" val="3783824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1"/>
          <p:cNvSpPr txBox="1">
            <a:spLocks noGrp="1"/>
          </p:cNvSpPr>
          <p:nvPr>
            <p:ph type="title"/>
          </p:nvPr>
        </p:nvSpPr>
        <p:spPr>
          <a:xfrm>
            <a:off x="720000" y="35653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Summary</a:t>
            </a:r>
            <a:endParaRPr b="1" dirty="0"/>
          </a:p>
        </p:txBody>
      </p:sp>
      <p:sp>
        <p:nvSpPr>
          <p:cNvPr id="2" name="Google Shape;445;p45">
            <a:extLst>
              <a:ext uri="{FF2B5EF4-FFF2-40B4-BE49-F238E27FC236}">
                <a16:creationId xmlns:a16="http://schemas.microsoft.com/office/drawing/2014/main" id="{C563585F-9DBD-8C14-F9E9-CD7F62EB12C0}"/>
              </a:ext>
            </a:extLst>
          </p:cNvPr>
          <p:cNvSpPr txBox="1">
            <a:spLocks/>
          </p:cNvSpPr>
          <p:nvPr/>
        </p:nvSpPr>
        <p:spPr>
          <a:xfrm>
            <a:off x="598630" y="929234"/>
            <a:ext cx="7338024" cy="3782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342900" indent="-342900" algn="l">
              <a:lnSpc>
                <a:spcPct val="150000"/>
              </a:lnSpc>
            </a:pPr>
            <a:r>
              <a:rPr lang="en-US" sz="1600" b="1" dirty="0">
                <a:latin typeface="Noto Serif Ethiopic"/>
                <a:sym typeface="Noto Serif Ethiopic"/>
              </a:rPr>
              <a:t>Pros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It gives users maximum freedom to explore visualizations and areas they want to focus on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No need to know HTML/CSS/JavaScript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Everything could be done in R</a:t>
            </a:r>
          </a:p>
          <a:p>
            <a:pPr marL="342900" indent="-342900" algn="l">
              <a:lnSpc>
                <a:spcPct val="150000"/>
              </a:lnSpc>
            </a:pPr>
            <a:r>
              <a:rPr lang="en-US" sz="1600" b="1" dirty="0">
                <a:latin typeface="Noto Serif Ethiopic"/>
                <a:sym typeface="Noto Serif Ethiopic"/>
              </a:rPr>
              <a:t>Cons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Hard to build &amp; potentially a lot of debugging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Need to have data living on cloud instead of local to enable deployment</a:t>
            </a:r>
          </a:p>
          <a:p>
            <a:pPr marL="800100" lvl="1" indent="-342900">
              <a:lnSpc>
                <a:spcPct val="150000"/>
              </a:lnSpc>
            </a:pPr>
            <a:r>
              <a:rPr lang="en-US" sz="1600" dirty="0">
                <a:latin typeface="Noto Serif Ethiopic"/>
                <a:sym typeface="Noto Serif Ethiopic"/>
              </a:rPr>
              <a:t>Can be slow with large datasets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2"/>
          <p:cNvSpPr txBox="1">
            <a:spLocks noGrp="1"/>
          </p:cNvSpPr>
          <p:nvPr>
            <p:ph type="title"/>
          </p:nvPr>
        </p:nvSpPr>
        <p:spPr>
          <a:xfrm>
            <a:off x="432406" y="1904298"/>
            <a:ext cx="7704000" cy="13349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b="1" dirty="0"/>
              <a:t>Thank you!</a:t>
            </a:r>
            <a:endParaRPr sz="96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76"/>
          <p:cNvSpPr txBox="1">
            <a:spLocks noGrp="1"/>
          </p:cNvSpPr>
          <p:nvPr>
            <p:ph type="title"/>
          </p:nvPr>
        </p:nvSpPr>
        <p:spPr>
          <a:xfrm>
            <a:off x="720000" y="25241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Resources</a:t>
            </a:r>
            <a:endParaRPr dirty="0"/>
          </a:p>
        </p:txBody>
      </p:sp>
      <p:sp>
        <p:nvSpPr>
          <p:cNvPr id="986" name="Google Shape;986;p76"/>
          <p:cNvSpPr txBox="1">
            <a:spLocks noGrp="1"/>
          </p:cNvSpPr>
          <p:nvPr>
            <p:ph type="body" idx="1"/>
          </p:nvPr>
        </p:nvSpPr>
        <p:spPr>
          <a:xfrm>
            <a:off x="720000" y="825116"/>
            <a:ext cx="7704000" cy="34932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 b="1" dirty="0"/>
              <a:t>ggplot2()</a:t>
            </a:r>
          </a:p>
          <a:p>
            <a:pPr marL="171450" indent="-171450">
              <a:spcBef>
                <a:spcPts val="1000"/>
              </a:spcBef>
            </a:pPr>
            <a:r>
              <a:rPr lang="en-US" sz="1400" dirty="0">
                <a:hlinkClick r:id="rId3"/>
              </a:rPr>
              <a:t>https://ggplot2.tidyverse.org/reference/index.html</a:t>
            </a:r>
            <a:endParaRPr lang="en-US" sz="1400" dirty="0"/>
          </a:p>
          <a:p>
            <a:pPr marL="171450" indent="-171450">
              <a:spcBef>
                <a:spcPts val="1000"/>
              </a:spcBef>
            </a:pPr>
            <a:r>
              <a:rPr lang="en-US" sz="1400" dirty="0">
                <a:hlinkClick r:id="rId4"/>
              </a:rPr>
              <a:t>https://rkabacoff.github.io/datavis/IntroGGPLOT.html</a:t>
            </a:r>
            <a:endParaRPr lang="en-US" sz="14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400" b="1" dirty="0" err="1"/>
              <a:t>plot_ly</a:t>
            </a:r>
            <a:r>
              <a:rPr lang="en-US" sz="1400" b="1" dirty="0"/>
              <a:t>()</a:t>
            </a:r>
          </a:p>
          <a:p>
            <a:pPr marL="171450" indent="-171450">
              <a:spcBef>
                <a:spcPts val="1000"/>
              </a:spcBef>
            </a:pPr>
            <a:r>
              <a:rPr lang="en-US" sz="1400" dirty="0"/>
              <a:t>https://</a:t>
            </a:r>
            <a:r>
              <a:rPr lang="en-US" sz="1400" dirty="0" err="1"/>
              <a:t>plotly.com</a:t>
            </a:r>
            <a:r>
              <a:rPr lang="en-US" sz="1400" dirty="0"/>
              <a:t>/r/getting-started/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1400" b="1" dirty="0"/>
              <a:t>Shiny</a:t>
            </a:r>
          </a:p>
          <a:p>
            <a:pPr marL="171450" indent="-171450">
              <a:spcBef>
                <a:spcPts val="1000"/>
              </a:spcBef>
            </a:pPr>
            <a:r>
              <a:rPr lang="en-US" sz="1400" dirty="0">
                <a:hlinkClick r:id="rId5"/>
              </a:rPr>
              <a:t>https://shiny.posit.co/r/getstarted/shiny-basics/lesson1/</a:t>
            </a:r>
            <a:endParaRPr lang="en-US" sz="1400" dirty="0"/>
          </a:p>
          <a:p>
            <a:pPr marL="171450" indent="-171450">
              <a:spcBef>
                <a:spcPts val="1000"/>
              </a:spcBef>
            </a:pPr>
            <a:r>
              <a:rPr lang="en-US" sz="1400" dirty="0">
                <a:hlinkClick r:id="rId6"/>
              </a:rPr>
              <a:t>https://gallery.shinyapps.io/assistant/</a:t>
            </a:r>
            <a:endParaRPr lang="en-US" sz="14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400" b="1" dirty="0"/>
              <a:t>Credit: </a:t>
            </a:r>
            <a:r>
              <a:rPr lang="en-US" sz="1400" dirty="0"/>
              <a:t>Dr. Charles South’s lecture on interactive plots and Shiny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ecutive Summary of Marketing Plan by Slidesgo">
  <a:themeElements>
    <a:clrScheme name="Simple Light">
      <a:dk1>
        <a:srgbClr val="586847"/>
      </a:dk1>
      <a:lt1>
        <a:srgbClr val="FCFCFC"/>
      </a:lt1>
      <a:dk2>
        <a:srgbClr val="F3ECE6"/>
      </a:dk2>
      <a:lt2>
        <a:srgbClr val="B4ACA2"/>
      </a:lt2>
      <a:accent1>
        <a:srgbClr val="475735"/>
      </a:accent1>
      <a:accent2>
        <a:srgbClr val="303A2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8684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2333</TotalTime>
  <Words>1292</Words>
  <Application>Microsoft Macintosh PowerPoint</Application>
  <PresentationFormat>On-screen Show (16:9)</PresentationFormat>
  <Paragraphs>221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Akatab</vt:lpstr>
      <vt:lpstr>Arial</vt:lpstr>
      <vt:lpstr>Noto Serif Ethiopic</vt:lpstr>
      <vt:lpstr>Executive Summary of Marketing Plan by Slidesgo</vt:lpstr>
      <vt:lpstr>Data Visualization in R</vt:lpstr>
      <vt:lpstr>Tables of contents</vt:lpstr>
      <vt:lpstr>Introduction to Visualization</vt:lpstr>
      <vt:lpstr>Why Visualization Matters?</vt:lpstr>
      <vt:lpstr>PowerPoint Presentation</vt:lpstr>
      <vt:lpstr>Why Visualization Matters?</vt:lpstr>
      <vt:lpstr>Why Visualization Matters?</vt:lpstr>
      <vt:lpstr>Static Visualization</vt:lpstr>
      <vt:lpstr>Summary of basic functions</vt:lpstr>
      <vt:lpstr>What’s more?</vt:lpstr>
      <vt:lpstr>Special Case of “Grouping”</vt:lpstr>
      <vt:lpstr>Growth curves (Spaghetti plots)</vt:lpstr>
      <vt:lpstr>Summary</vt:lpstr>
      <vt:lpstr>Categorical &amp; Quantitative Data</vt:lpstr>
      <vt:lpstr>Explore on your own!</vt:lpstr>
      <vt:lpstr>Explore on your own!</vt:lpstr>
      <vt:lpstr>PowerPoint Presentation</vt:lpstr>
      <vt:lpstr>Interactive Visualization</vt:lpstr>
      <vt:lpstr>PowerPoint Presentation</vt:lpstr>
      <vt:lpstr>Plotly</vt:lpstr>
      <vt:lpstr>Try it yourself!</vt:lpstr>
      <vt:lpstr>PowerPoint Presentation</vt:lpstr>
      <vt:lpstr>Shiny</vt:lpstr>
      <vt:lpstr>What is Shiny?</vt:lpstr>
      <vt:lpstr>Foundations of Shiny</vt:lpstr>
      <vt:lpstr>Shiny App Example</vt:lpstr>
      <vt:lpstr>How to build Shiny?</vt:lpstr>
      <vt:lpstr>Summary</vt:lpstr>
      <vt:lpstr>Thank you!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Yang, Yvonne</cp:lastModifiedBy>
  <cp:revision>20</cp:revision>
  <dcterms:modified xsi:type="dcterms:W3CDTF">2026-03-28T16:38:14Z</dcterms:modified>
</cp:coreProperties>
</file>